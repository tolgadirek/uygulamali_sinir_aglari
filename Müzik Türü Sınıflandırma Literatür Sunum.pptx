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DM Sans" pitchFamily="2" charset="-94"/>
      <p:regular r:id="rId15"/>
      <p:bold r:id="rId16"/>
      <p:italic r:id="rId17"/>
      <p:boldItalic r:id="rId18"/>
    </p:embeddedFont>
    <p:embeddedFont>
      <p:font typeface="Merriweather" panose="00000500000000000000" pitchFamily="2" charset="-94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1669515"/>
            <a:ext cx="11601450" cy="182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CNN </a:t>
            </a:r>
            <a:r>
              <a:rPr lang="en-US" sz="5400" b="1" i="0" u="none" strike="noStrike" cap="none" dirty="0" err="1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Tabanlı</a:t>
            </a:r>
            <a:r>
              <a:rPr lang="en-US" sz="5400" b="1" i="0" u="none" strike="noStrike" cap="none" dirty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5400" b="1" i="0" u="none" strike="noStrike" cap="none" dirty="0" err="1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Müzik</a:t>
            </a:r>
            <a:r>
              <a:rPr lang="en-US" sz="5400" b="1" i="0" u="none" strike="noStrike" cap="none" dirty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5400" b="1" i="0" u="none" strike="noStrike" cap="none" dirty="0" err="1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Türü</a:t>
            </a:r>
            <a:r>
              <a:rPr lang="en-US" sz="5400" b="1" i="0" u="none" strike="noStrike" cap="none" dirty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5400" b="1" i="0" u="none" strike="noStrike" cap="none" dirty="0" err="1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Sınıflandırması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1809750" y="3682044"/>
            <a:ext cx="8572500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Literatür</a:t>
            </a:r>
            <a:r>
              <a:rPr lang="en-US" sz="1950" b="0" i="0" u="none" strike="noStrike" cap="none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950" b="0" i="0" u="none" strike="noStrike" cap="none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Taraması</a:t>
            </a:r>
            <a:r>
              <a:rPr lang="en-US" sz="1950" b="0" i="0" u="none" strike="noStrike" cap="none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950" b="0" i="0" u="none" strike="noStrike" cap="none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ve</a:t>
            </a:r>
            <a:r>
              <a:rPr lang="en-US" sz="1950" b="0" i="0" u="none" strike="noStrike" cap="none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950" b="0" i="0" u="none" strike="noStrike" cap="none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Stratejik</a:t>
            </a:r>
            <a:r>
              <a:rPr lang="en-US" sz="1950" b="0" i="0" u="none" strike="noStrike" cap="none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950" b="0" i="0" u="none" strike="noStrike" cap="none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Proje</a:t>
            </a:r>
            <a:r>
              <a:rPr lang="en-US" sz="1950" b="0" i="0" u="none" strike="noStrike" cap="none" dirty="0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 Yol </a:t>
            </a:r>
            <a:r>
              <a:rPr lang="en-US" sz="1950" b="0" i="0" u="none" strike="noStrike" cap="none" dirty="0" err="1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Haritası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576613"/>
            <a:ext cx="11049000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50" b="1" dirty="0">
                <a:solidFill>
                  <a:srgbClr val="D4E157"/>
                </a:solidFill>
                <a:latin typeface="DM Sans"/>
                <a:sym typeface="DM Sans"/>
              </a:rPr>
              <a:t>Tolga Direk – 032190054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50" b="1" dirty="0">
                <a:solidFill>
                  <a:srgbClr val="D4E157"/>
                </a:solidFill>
                <a:latin typeface="DM Sans"/>
                <a:sym typeface="DM Sans"/>
              </a:rPr>
              <a:t>Alper Can Özer – 032190152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50" b="1" dirty="0">
                <a:solidFill>
                  <a:srgbClr val="D4E157"/>
                </a:solidFill>
                <a:latin typeface="DM Sans"/>
                <a:sym typeface="DM Sans"/>
              </a:rPr>
              <a:t>Enes Emre Turan - 032390083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6334125" y="2138362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MIR </a:t>
            </a:r>
            <a:r>
              <a:rPr lang="en-US" sz="2100" b="1" i="0" u="none" strike="noStrike" cap="none" dirty="0" err="1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ve</a:t>
            </a:r>
            <a:r>
              <a:rPr lang="en-US" sz="2100" b="1" i="0" u="none" strike="noStrike" cap="none" dirty="0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1" i="0" u="none" strike="noStrike" cap="none" dirty="0" err="1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Otomatik</a:t>
            </a:r>
            <a:r>
              <a:rPr lang="en-US" sz="2100" b="1" i="0" u="none" strike="noStrike" cap="none" dirty="0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1" i="0" u="none" strike="noStrike" cap="none" dirty="0" err="1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Kategorizasyon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334125" y="3005137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Dijital müzik kütüphanelerinin devasa boyutlara ulaşması, akıllı filtreleme sistemlerini zorunlu hale getirmiştir. Geleneksel "hand-crafted" özelliklerin kısıtlarını aşmak hedeflenmektedir.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334125" y="4491037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Temel Motivasyon: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Konvolüsyonel Sinir Ağları (CNN) kullanarak müziğin karmaşık akustik yapısını uçtan uca modellemek ve literatürdeki en iyi uygulamaları sentezlemek.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Giriş ve Projenin Amacı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47800"/>
            <a:ext cx="1104900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571500" y="4443412"/>
            <a:ext cx="11049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FMA veri seti, ISMIR 2017'de tanıtılmış olup, milyonlarca parametreli ağların "aşırı uyum" (overfitting) sorununu çözmek için stratejik bir tercihtir.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Veri Seti: GTZAN'dan FMA'ya Geçiş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/>
        </p:nvSpPr>
        <p:spPr>
          <a:xfrm>
            <a:off x="1381125" y="2400300"/>
            <a:ext cx="10239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Parça Seviyesinde Bölme (Track-level Split):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Şarkı kesitlere bölünmeden önce %60 Eğitim, %20 Doğrulama ve %20 Test olarak ayrılmalıdır.</a:t>
            </a: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1381125" y="3248025"/>
            <a:ext cx="10239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Orta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Kısımları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1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Seçme</a:t>
            </a:r>
            <a:r>
              <a:rPr lang="en-US" sz="1500" b="1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Silla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ve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ekibinin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araştırmasına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göre,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şarkıların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giriş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ve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bitiş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kısımları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ağın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kafasını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karıştırdığı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için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sadece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orta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kısımlar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işlenmelidir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16" name="Google Shape;116;p16"/>
          <p:cNvSpPr txBox="1"/>
          <p:nvPr/>
        </p:nvSpPr>
        <p:spPr>
          <a:xfrm>
            <a:off x="1381125" y="4095750"/>
            <a:ext cx="10239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Sızıntısız Metodoloji: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Kesitler rastgele dağıtılırsa ağ şarkının "türünü" değil, "arka plan gürültüsünü" ezberler.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1381125" y="4638675"/>
            <a:ext cx="10239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Scaler Disiplini: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Ölçekleyiciler (min-max/standard) sadece eğitim verisi üzerinde eğitilerek test setine sızma engellenmelidir.</a:t>
            </a:r>
            <a:endParaRPr/>
          </a:p>
        </p:txBody>
      </p:sp>
      <p:pic>
        <p:nvPicPr>
          <p:cNvPr id="118" name="Google Shape;11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00" y="2443162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3290887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00" y="4138612"/>
            <a:ext cx="2381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2500" y="4681537"/>
            <a:ext cx="26670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6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Güvenilir Test: Veri Sızıntısını Önleme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02967"/>
            <a:ext cx="2289125" cy="76646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7"/>
          <p:cNvSpPr txBox="1"/>
          <p:nvPr/>
        </p:nvSpPr>
        <p:spPr>
          <a:xfrm>
            <a:off x="571500" y="270286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Mel ölçeği, insan kulağının frekans algısını matematiksel olarak simüle eder. CNN modelleri için en ideal girdi formudur.</a:t>
            </a:r>
            <a:endParaRPr/>
          </a:p>
        </p:txBody>
      </p:sp>
      <p:pic>
        <p:nvPicPr>
          <p:cNvPr id="132" name="Google Shape;132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" y="3750617"/>
            <a:ext cx="1793825" cy="27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885825" y="4459932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952500" y="4459932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Mel-Spektrogram Başarısı: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%89.30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885825" y="4764732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952500" y="4764732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MFCC Başarısı: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%76.40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Akustik Özellik: Mel-Spektrogram</a:t>
            </a:r>
            <a:endParaRPr/>
          </a:p>
        </p:txBody>
      </p:sp>
      <p:sp>
        <p:nvSpPr>
          <p:cNvPr id="139" name="Google Shape;139;p17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19312"/>
            <a:ext cx="3492549" cy="349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119312"/>
            <a:ext cx="3492549" cy="349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119312"/>
            <a:ext cx="3492549" cy="34956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8"/>
          <p:cNvSpPr txBox="1"/>
          <p:nvPr/>
        </p:nvSpPr>
        <p:spPr>
          <a:xfrm>
            <a:off x="844231" y="3328987"/>
            <a:ext cx="29470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Erken Füzyon</a:t>
            </a:r>
            <a:endParaRPr/>
          </a:p>
        </p:txBody>
      </p:sp>
      <p:sp>
        <p:nvSpPr>
          <p:cNvPr id="149" name="Google Shape;149;p18"/>
          <p:cNvSpPr txBox="1"/>
          <p:nvPr/>
        </p:nvSpPr>
        <p:spPr>
          <a:xfrm>
            <a:off x="914400" y="3862387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Mel ve MFCC giriş seviyesinde birleştiğinde modelin uzaysal algısı bozulur ve başarı oranı %28'e düşer.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4622530" y="3328987"/>
            <a:ext cx="29470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Geç Füzyon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4692699" y="3862387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Birden fazla özellik kullanılacaksa, bunlar ağın çıkış katmanlarında (Late Fusion) birleştirilmelidir.</a:t>
            </a:r>
            <a:endParaRPr/>
          </a:p>
        </p:txBody>
      </p:sp>
      <p:sp>
        <p:nvSpPr>
          <p:cNvPr id="152" name="Google Shape;152;p18"/>
          <p:cNvSpPr txBox="1"/>
          <p:nvPr/>
        </p:nvSpPr>
        <p:spPr>
          <a:xfrm>
            <a:off x="8400830" y="3328987"/>
            <a:ext cx="29470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FDA ve AFD</a:t>
            </a:r>
            <a:endParaRPr/>
          </a:p>
        </p:txBody>
      </p:sp>
      <p:sp>
        <p:nvSpPr>
          <p:cNvPr id="153" name="Google Shape;153;p18"/>
          <p:cNvSpPr txBox="1"/>
          <p:nvPr/>
        </p:nvSpPr>
        <p:spPr>
          <a:xfrm>
            <a:off x="8470999" y="3862387"/>
            <a:ext cx="280674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Ses sinyallerini sürekli pürüzsüz fonksiyonlar olarak ele alan Fonksiyonel Veri Analizi, yüksek potansiyel taşır.</a:t>
            </a:r>
            <a:endParaRPr/>
          </a:p>
        </p:txBody>
      </p:sp>
      <p:pic>
        <p:nvPicPr>
          <p:cNvPr id="154" name="Google Shape;154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60525" y="2528887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72162" y="2528887"/>
            <a:ext cx="447675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550449" y="2528887"/>
            <a:ext cx="64770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Özellik Füzyonu ve FDA Yaklaşımı</a:t>
            </a: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62150"/>
            <a:ext cx="38100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962150"/>
            <a:ext cx="3810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4857750" y="2800350"/>
            <a:ext cx="71008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Ham Sinyal İşleme</a:t>
            </a:r>
            <a:endParaRPr/>
          </a:p>
        </p:txBody>
      </p:sp>
      <p:sp>
        <p:nvSpPr>
          <p:cNvPr id="167" name="Google Shape;167;p19"/>
          <p:cNvSpPr txBox="1"/>
          <p:nvPr/>
        </p:nvSpPr>
        <p:spPr>
          <a:xfrm>
            <a:off x="4857750" y="3333750"/>
            <a:ext cx="6762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Dieleman ve Schrauwen tarafından temelleri atılan bu yaklaşım, sese hiçbir Fourier dönüşümü uygulamadan ham dalga formunu doğrudan işler.</a:t>
            </a:r>
            <a:endParaRPr/>
          </a:p>
        </p:txBody>
      </p:sp>
      <p:sp>
        <p:nvSpPr>
          <p:cNvPr id="168" name="Google Shape;168;p19"/>
          <p:cNvSpPr txBox="1"/>
          <p:nvPr/>
        </p:nvSpPr>
        <p:spPr>
          <a:xfrm>
            <a:off x="4857750" y="4133850"/>
            <a:ext cx="6762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Gammatone Filtreleri:</a:t>
            </a: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Allamy ve Koerich (2021), insan iç kulağını taklit eden filtrelerle %80.93 başarıya ulaşmıştır.</a:t>
            </a:r>
            <a:endParaRPr/>
          </a:p>
        </p:txBody>
      </p:sp>
      <p:sp>
        <p:nvSpPr>
          <p:cNvPr id="169" name="Google Shape;169;p19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Uçtan Uca Öğrenme: 1D CNN</a:t>
            </a:r>
            <a:endParaRPr/>
          </a:p>
        </p:txBody>
      </p:sp>
      <p:sp>
        <p:nvSpPr>
          <p:cNvPr id="170" name="Google Shape;170;p19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0"/>
          <p:cNvSpPr txBox="1"/>
          <p:nvPr/>
        </p:nvSpPr>
        <p:spPr>
          <a:xfrm>
            <a:off x="762000" y="571500"/>
            <a:ext cx="5000625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2D CNN ve Transfer Öğrenme</a:t>
            </a:r>
            <a:endParaRPr/>
          </a:p>
        </p:txBody>
      </p:sp>
      <p:sp>
        <p:nvSpPr>
          <p:cNvPr id="177" name="Google Shape;177;p20"/>
          <p:cNvSpPr/>
          <p:nvPr/>
        </p:nvSpPr>
        <p:spPr>
          <a:xfrm>
            <a:off x="571500" y="571500"/>
            <a:ext cx="76200" cy="9906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0"/>
          <p:cNvSpPr txBox="1"/>
          <p:nvPr/>
        </p:nvSpPr>
        <p:spPr>
          <a:xfrm>
            <a:off x="571500" y="1943100"/>
            <a:ext cx="52006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Google VGGish Mimarisi</a:t>
            </a:r>
            <a:endParaRPr/>
          </a:p>
        </p:txBody>
      </p:sp>
      <p:sp>
        <p:nvSpPr>
          <p:cNvPr id="180" name="Google Shape;180;p20"/>
          <p:cNvSpPr txBox="1"/>
          <p:nvPr/>
        </p:nvSpPr>
        <p:spPr>
          <a:xfrm>
            <a:off x="571500" y="2476500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UC Berkeley araştırmacıları, Google'ın devasa Audioset veri tabanında eğitilmiş VGGish modelini Transfer Öğrenme ile FMA-Small'a uygulamıştır.</a:t>
            </a:r>
            <a:endParaRPr/>
          </a:p>
        </p:txBody>
      </p:sp>
      <p:sp>
        <p:nvSpPr>
          <p:cNvPr id="181" name="Google Shape;181;p20"/>
          <p:cNvSpPr txBox="1"/>
          <p:nvPr/>
        </p:nvSpPr>
        <p:spPr>
          <a:xfrm>
            <a:off x="571500" y="3581400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Bu yöntem, önceden öğrenilmiş görsel-akustik paternleri kullanarak temel modellerin başarısını net %7.75 oranında artırmaktadır.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1712"/>
            <a:ext cx="3492549" cy="319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271712"/>
            <a:ext cx="3492549" cy="319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271712"/>
            <a:ext cx="3492549" cy="319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1"/>
          <p:cNvSpPr txBox="1"/>
          <p:nvPr/>
        </p:nvSpPr>
        <p:spPr>
          <a:xfrm>
            <a:off x="844231" y="3481387"/>
            <a:ext cx="29470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CNN Kolu</a:t>
            </a:r>
            <a:endParaRPr/>
          </a:p>
        </p:txBody>
      </p:sp>
      <p:sp>
        <p:nvSpPr>
          <p:cNvPr id="191" name="Google Shape;191;p21"/>
          <p:cNvSpPr txBox="1"/>
          <p:nvPr/>
        </p:nvSpPr>
        <p:spPr>
          <a:xfrm>
            <a:off x="914400" y="4014787"/>
            <a:ext cx="280674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Spektrogram üzerinden müzikal tınıyı ve anlık frekans detaylarını analiz eder.</a:t>
            </a:r>
            <a:endParaRPr/>
          </a:p>
        </p:txBody>
      </p:sp>
      <p:sp>
        <p:nvSpPr>
          <p:cNvPr id="192" name="Google Shape;192;p21"/>
          <p:cNvSpPr txBox="1"/>
          <p:nvPr/>
        </p:nvSpPr>
        <p:spPr>
          <a:xfrm>
            <a:off x="4622530" y="3481387"/>
            <a:ext cx="29470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RNN / Bi-GRU</a:t>
            </a:r>
            <a:endParaRPr/>
          </a:p>
        </p:txBody>
      </p:sp>
      <p:sp>
        <p:nvSpPr>
          <p:cNvPr id="193" name="Google Shape;193;p21"/>
          <p:cNvSpPr txBox="1"/>
          <p:nvPr/>
        </p:nvSpPr>
        <p:spPr>
          <a:xfrm>
            <a:off x="4692699" y="4014787"/>
            <a:ext cx="280674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Müziğin ritmini, zamansal akışını ve şarkı yapısını kavramak için kullanılır.</a:t>
            </a:r>
            <a:endParaRPr/>
          </a:p>
        </p:txBody>
      </p:sp>
      <p:sp>
        <p:nvSpPr>
          <p:cNvPr id="194" name="Google Shape;194;p21"/>
          <p:cNvSpPr txBox="1"/>
          <p:nvPr/>
        </p:nvSpPr>
        <p:spPr>
          <a:xfrm>
            <a:off x="8400830" y="3481387"/>
            <a:ext cx="29470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Hibrit Başarı</a:t>
            </a:r>
            <a:endParaRPr/>
          </a:p>
        </p:txBody>
      </p:sp>
      <p:sp>
        <p:nvSpPr>
          <p:cNvPr id="195" name="Google Shape;195;p21"/>
          <p:cNvSpPr txBox="1"/>
          <p:nvPr/>
        </p:nvSpPr>
        <p:spPr>
          <a:xfrm>
            <a:off x="8470999" y="4014787"/>
            <a:ext cx="280674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CNN + Bi-GRU yapısı, hem geçmişi hem geleceği analiz ederek %89.30 doğruluğa ulaşır.</a:t>
            </a:r>
            <a:endParaRPr/>
          </a:p>
        </p:txBody>
      </p:sp>
      <p:pic>
        <p:nvPicPr>
          <p:cNvPr id="196" name="Google Shape;196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27187" y="2681287"/>
            <a:ext cx="581025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825" y="2681287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583787" y="2681287"/>
            <a:ext cx="581025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1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Zamansal Dinamikler: CRNN Yapısı</a:t>
            </a:r>
            <a:endParaRPr/>
          </a:p>
        </p:txBody>
      </p:sp>
      <p:sp>
        <p:nvSpPr>
          <p:cNvPr id="200" name="Google Shape;200;p21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2"/>
          <p:cNvSpPr txBox="1"/>
          <p:nvPr/>
        </p:nvSpPr>
        <p:spPr>
          <a:xfrm>
            <a:off x="571500" y="2952750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>
                <a:solidFill>
                  <a:srgbClr val="003366"/>
                </a:solidFill>
                <a:latin typeface="DM Sans"/>
                <a:ea typeface="DM Sans"/>
                <a:cs typeface="DM Sans"/>
                <a:sym typeface="DM Sans"/>
              </a:rPr>
              <a:t>96.07%</a:t>
            </a:r>
            <a:endParaRPr/>
          </a:p>
        </p:txBody>
      </p:sp>
      <p:sp>
        <p:nvSpPr>
          <p:cNvPr id="207" name="Google Shape;207;p22"/>
          <p:cNvSpPr txBox="1"/>
          <p:nvPr/>
        </p:nvSpPr>
        <p:spPr>
          <a:xfrm>
            <a:off x="571500" y="4381500"/>
            <a:ext cx="52863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D4E157"/>
                </a:solidFill>
                <a:latin typeface="DM Sans"/>
                <a:ea typeface="DM Sans"/>
                <a:cs typeface="DM Sans"/>
                <a:sym typeface="DM Sans"/>
              </a:rPr>
              <a:t>Rekor Doğruluk (2025)</a:t>
            </a:r>
            <a:endParaRPr/>
          </a:p>
        </p:txBody>
      </p:sp>
      <p:sp>
        <p:nvSpPr>
          <p:cNvPr id="208" name="Google Shape;208;p22"/>
          <p:cNvSpPr txBox="1"/>
          <p:nvPr/>
        </p:nvSpPr>
        <p:spPr>
          <a:xfrm>
            <a:off x="6715125" y="2647950"/>
            <a:ext cx="51506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Transformer Mekanizmaları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6715125" y="3181350"/>
            <a:ext cx="4905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Zhang ve Li (2025), Paralel CNN kollarını Capuchin Arama Algoritması ile optimize ederek zirveye ulaşmıştır.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6715125" y="4310634"/>
            <a:ext cx="4905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Audio Spectrogram Transformer (AST):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Dil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modellerindeki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'Attention'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mekanizmasını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müzik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verisine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uygulayarak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tüm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standart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CNN'leri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geride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bırakmaktadır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211" name="Google Shape;211;p22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Yeni Nesil: AST ve Paralel Ağlar</a:t>
            </a:r>
            <a:endParaRPr/>
          </a:p>
        </p:txBody>
      </p:sp>
      <p:sp>
        <p:nvSpPr>
          <p:cNvPr id="212" name="Google Shape;212;p22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3"/>
          <p:cNvSpPr/>
          <p:nvPr/>
        </p:nvSpPr>
        <p:spPr>
          <a:xfrm>
            <a:off x="571500" y="3324225"/>
            <a:ext cx="11049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3"/>
          <p:cNvSpPr txBox="1"/>
          <p:nvPr/>
        </p:nvSpPr>
        <p:spPr>
          <a:xfrm>
            <a:off x="510733" y="3609975"/>
            <a:ext cx="255219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Veri Yönetimi</a:t>
            </a:r>
            <a:endParaRPr/>
          </a:p>
        </p:txBody>
      </p:sp>
      <p:sp>
        <p:nvSpPr>
          <p:cNvPr id="220" name="Google Shape;220;p23"/>
          <p:cNvSpPr txBox="1"/>
          <p:nvPr/>
        </p:nvSpPr>
        <p:spPr>
          <a:xfrm>
            <a:off x="571500" y="4067175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FMA-Small (8 tür), Track-level bölme, 3sn kesitler.</a:t>
            </a:r>
            <a:endParaRPr/>
          </a:p>
        </p:txBody>
      </p:sp>
      <p:sp>
        <p:nvSpPr>
          <p:cNvPr id="221" name="Google Shape;221;p23"/>
          <p:cNvSpPr txBox="1"/>
          <p:nvPr/>
        </p:nvSpPr>
        <p:spPr>
          <a:xfrm>
            <a:off x="3383413" y="3609975"/>
            <a:ext cx="255219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Özellik Temsili</a:t>
            </a:r>
            <a:endParaRPr/>
          </a:p>
        </p:txBody>
      </p:sp>
      <p:sp>
        <p:nvSpPr>
          <p:cNvPr id="222" name="Google Shape;222;p23"/>
          <p:cNvSpPr txBox="1"/>
          <p:nvPr/>
        </p:nvSpPr>
        <p:spPr>
          <a:xfrm>
            <a:off x="3444180" y="4067175"/>
            <a:ext cx="24306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Grayscale Mel-spektrogram, Late Fusion stratejisi.</a:t>
            </a:r>
            <a:endParaRPr/>
          </a:p>
        </p:txBody>
      </p:sp>
      <p:sp>
        <p:nvSpPr>
          <p:cNvPr id="223" name="Google Shape;223;p23"/>
          <p:cNvSpPr txBox="1"/>
          <p:nvPr/>
        </p:nvSpPr>
        <p:spPr>
          <a:xfrm>
            <a:off x="6256094" y="3609975"/>
            <a:ext cx="255219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Mimari İnşa</a:t>
            </a:r>
            <a:endParaRPr/>
          </a:p>
        </p:txBody>
      </p:sp>
      <p:sp>
        <p:nvSpPr>
          <p:cNvPr id="224" name="Google Shape;224;p23"/>
          <p:cNvSpPr txBox="1"/>
          <p:nvPr/>
        </p:nvSpPr>
        <p:spPr>
          <a:xfrm>
            <a:off x="6316860" y="4067175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VGGish tabanlı Transfer Learning + Bi-GRU (CRNN).</a:t>
            </a:r>
            <a:endParaRPr/>
          </a:p>
        </p:txBody>
      </p:sp>
      <p:sp>
        <p:nvSpPr>
          <p:cNvPr id="225" name="Google Shape;225;p23"/>
          <p:cNvSpPr txBox="1"/>
          <p:nvPr/>
        </p:nvSpPr>
        <p:spPr>
          <a:xfrm>
            <a:off x="9128774" y="3609975"/>
            <a:ext cx="255219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Gelecek Vizyonu</a:t>
            </a:r>
            <a:endParaRPr/>
          </a:p>
        </p:txBody>
      </p:sp>
      <p:sp>
        <p:nvSpPr>
          <p:cNvPr id="226" name="Google Shape;226;p23"/>
          <p:cNvSpPr txBox="1"/>
          <p:nvPr/>
        </p:nvSpPr>
        <p:spPr>
          <a:xfrm>
            <a:off x="9189541" y="4067175"/>
            <a:ext cx="243066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Hibrit AST ve CNN-TE bloklarının entegrasyonu.</a:t>
            </a:r>
            <a:endParaRPr/>
          </a:p>
        </p:txBody>
      </p:sp>
      <p:sp>
        <p:nvSpPr>
          <p:cNvPr id="227" name="Google Shape;227;p23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Proje Nihai Stratejisi</a:t>
            </a:r>
            <a:endParaRPr/>
          </a:p>
        </p:txBody>
      </p:sp>
      <p:sp>
        <p:nvSpPr>
          <p:cNvPr id="228" name="Google Shape;228;p23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D4E1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3"/>
          <p:cNvSpPr/>
          <p:nvPr/>
        </p:nvSpPr>
        <p:spPr>
          <a:xfrm>
            <a:off x="1672530" y="273824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0033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3"/>
          <p:cNvSpPr/>
          <p:nvPr/>
        </p:nvSpPr>
        <p:spPr>
          <a:xfrm>
            <a:off x="4545210" y="273824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0033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3"/>
          <p:cNvSpPr/>
          <p:nvPr/>
        </p:nvSpPr>
        <p:spPr>
          <a:xfrm>
            <a:off x="7417891" y="273824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0033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3"/>
          <p:cNvSpPr/>
          <p:nvPr/>
        </p:nvSpPr>
        <p:spPr>
          <a:xfrm>
            <a:off x="10290571" y="273824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0033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4"/>
          <p:cNvSpPr txBox="1"/>
          <p:nvPr/>
        </p:nvSpPr>
        <p:spPr>
          <a:xfrm>
            <a:off x="3690699" y="2103090"/>
            <a:ext cx="481060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6000" b="1" i="0" u="none" strike="noStrike" cap="none" dirty="0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Teşekkürler</a:t>
            </a:r>
            <a:endParaRPr dirty="0"/>
          </a:p>
        </p:txBody>
      </p:sp>
      <p:sp>
        <p:nvSpPr>
          <p:cNvPr id="239" name="Google Shape;239;p24"/>
          <p:cNvSpPr txBox="1"/>
          <p:nvPr/>
        </p:nvSpPr>
        <p:spPr>
          <a:xfrm>
            <a:off x="3790950" y="3484215"/>
            <a:ext cx="46101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CNN Tabanlı Müzik Türü Sınıflandırma Projesi</a:t>
            </a:r>
            <a:endParaRPr/>
          </a:p>
        </p:txBody>
      </p:sp>
      <p:sp>
        <p:nvSpPr>
          <p:cNvPr id="240" name="Google Shape;240;p24"/>
          <p:cNvSpPr txBox="1"/>
          <p:nvPr/>
        </p:nvSpPr>
        <p:spPr>
          <a:xfrm>
            <a:off x="4729162" y="4554735"/>
            <a:ext cx="27336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DM Sans"/>
                <a:ea typeface="DM Sans"/>
                <a:cs typeface="DM Sans"/>
                <a:sym typeface="DM Sans"/>
              </a:rPr>
              <a:t>Proje Dokümantasyonu ve İletişim</a:t>
            </a:r>
            <a:endParaRPr/>
          </a:p>
        </p:txBody>
      </p:sp>
      <p:pic>
        <p:nvPicPr>
          <p:cNvPr id="241" name="Google Shape;24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29162" y="4573785"/>
            <a:ext cx="15240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556</Words>
  <Application>Microsoft Office PowerPoint</Application>
  <PresentationFormat>Geniş ekran</PresentationFormat>
  <Paragraphs>62</Paragraphs>
  <Slides>12</Slides>
  <Notes>12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12</vt:i4>
      </vt:variant>
    </vt:vector>
  </HeadingPairs>
  <TitlesOfParts>
    <vt:vector size="17" baseType="lpstr">
      <vt:lpstr>Arial</vt:lpstr>
      <vt:lpstr>DM Sans</vt:lpstr>
      <vt:lpstr>Merriweather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Tolga Direk</cp:lastModifiedBy>
  <cp:revision>2</cp:revision>
  <dcterms:modified xsi:type="dcterms:W3CDTF">2026-05-03T18:26:44Z</dcterms:modified>
</cp:coreProperties>
</file>