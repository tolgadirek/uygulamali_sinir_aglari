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-94"/>
      <p:regular r:id="rId15"/>
      <p:bold r:id="rId16"/>
      <p:italic r:id="rId17"/>
      <p:boldItalic r:id="rId18"/>
    </p:embeddedFont>
    <p:embeddedFont>
      <p:font typeface="Merriweather" panose="00000500000000000000" pitchFamily="2" charset="-94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69515"/>
            <a:ext cx="11601450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CNN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Tabanlı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Müzik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Türü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Sınıflandırması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682044"/>
            <a:ext cx="85725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Literatür</a:t>
            </a:r>
            <a:r>
              <a:rPr lang="en-US" sz="195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Taraması</a:t>
            </a:r>
            <a:r>
              <a:rPr lang="en-US" sz="195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ve</a:t>
            </a:r>
            <a:r>
              <a:rPr lang="en-US" sz="195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Stratejik</a:t>
            </a:r>
            <a:r>
              <a:rPr lang="en-US" sz="195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5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Proje</a:t>
            </a:r>
            <a:r>
              <a:rPr lang="en-US" sz="195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Yol </a:t>
            </a:r>
            <a:r>
              <a:rPr lang="en-US" sz="195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Haritası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76613"/>
            <a:ext cx="1104900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50" b="1" dirty="0">
                <a:solidFill>
                  <a:srgbClr val="D4E157"/>
                </a:solidFill>
                <a:latin typeface="DM Sans"/>
                <a:sym typeface="DM Sans"/>
              </a:rPr>
              <a:t>Tolga Direk – 032190054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50" b="1" dirty="0">
                <a:solidFill>
                  <a:srgbClr val="D4E157"/>
                </a:solidFill>
                <a:latin typeface="DM Sans"/>
                <a:sym typeface="DM Sans"/>
              </a:rPr>
              <a:t>Alper Can Özer – 032190152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1650" b="1" dirty="0">
                <a:solidFill>
                  <a:srgbClr val="D4E157"/>
                </a:solidFill>
                <a:latin typeface="DM Sans"/>
                <a:sym typeface="DM Sans"/>
              </a:rPr>
              <a:t>Enes Emre Turan - 032390083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334125" y="2138362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MIR </a:t>
            </a:r>
            <a:r>
              <a:rPr lang="en-US" sz="210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ve</a:t>
            </a:r>
            <a:r>
              <a:rPr lang="en-US" sz="21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Otomatik</a:t>
            </a:r>
            <a:r>
              <a:rPr lang="en-US" sz="2100" b="1" i="0" u="none" strike="noStrike" cap="none" dirty="0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2100" b="1" i="0" u="none" strike="noStrike" cap="none" dirty="0" err="1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Kategorizasyon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334125" y="30051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Dijital müzik kütüphanelerinin devasa boyutlara ulaşması, akıllı filtreleme sistemlerini zorunlu hale getirmiştir. Geleneksel "hand-crafted" özelliklerin kısıtlarını aşmak hedeflenmektedir.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334125" y="449103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Temel Motivasyon: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Konvolüsyonel Sinir Ağları (CNN) kullanarak müziğin karmaşık akustik yapısını uçtan uca modellemek ve literatürdeki en iyi uygulamaları sentezlemek.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Giriş ve Projenin Amacı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4443412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FMA veri seti, ISMIR 2017'de tanıtılmış olup, milyonlarca parametreli ağların "aşırı uyum" (overfitting) sorununu çözmek için stratejik bir tercihtir.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Veri Seti: GTZAN'dan FMA'ya Geçiş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1381125" y="2400300"/>
            <a:ext cx="10239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Parça Seviyesinde Bölme (Track-level Split):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Şarkı kesitlere bölünmeden önce %60 Eğitim, %20 Doğrulama ve %20 Test olarak ayrılmalıdır.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381125" y="3248025"/>
            <a:ext cx="10239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Orta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Kısımları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Seçme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Silla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ekibinin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araştırmasına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göre,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şarkıların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giriş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bitiş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kısımları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ağın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kafasını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karıştırdığı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için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sadece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orta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kısımlar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işlenmelidir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1381125" y="4095750"/>
            <a:ext cx="10239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Sızıntısız Metodoloji: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Kesitler rastgele dağıtılırsa ağ şarkının "türünü" değil, "arka plan gürültüsünü" ezberler.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381125" y="4638675"/>
            <a:ext cx="10239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Scaler Disiplini: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Ölçekleyiciler (min-max/standard) sadece eğitim verisi üzerinde eğitilerek test setine sızma engellenmelidir.</a:t>
            </a:r>
            <a:endParaRPr/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24431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2908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13861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4681537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Güvenilir Test: Veri Sızıntısını Önleme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502967"/>
            <a:ext cx="2289125" cy="76646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270286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Mel ölçeği, insan kulağının frekans algısını matematiksel olarak simüle eder. CNN modelleri için en ideal girdi formudur.</a:t>
            </a:r>
            <a:endParaRPr/>
          </a:p>
        </p:txBody>
      </p:sp>
      <p:pic>
        <p:nvPicPr>
          <p:cNvPr id="132" name="Google Shape;132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3750617"/>
            <a:ext cx="1793825" cy="27116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85825" y="445993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52500" y="445993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Mel-Spektrogram Başarısı: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%89.30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85825" y="476473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52500" y="476473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MFCC Başarısı: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%76.40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Akustik Özellik: Mel-Spektrogram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3492549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19312"/>
            <a:ext cx="3492549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19312"/>
            <a:ext cx="3492549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844231" y="3328987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Erken Füzyon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14400" y="3862387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Mel ve MFCC giriş seviyesinde birleştiğinde modelin uzaysal algısı bozulur ve başarı oranı %28'e düşer.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4622530" y="3328987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Geç Füzyon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4692699" y="3862387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Birden fazla özellik kullanılacaksa, bunlar ağın çıkış katmanlarında (Late Fusion) birleştirilmelidir.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400830" y="3328987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FDA ve AFD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8470999" y="3862387"/>
            <a:ext cx="280674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Ses sinyallerini sürekli pürüzsüz fonksiyonlar olarak ele alan Fonksiyonel Veri Analizi, yüksek potansiyel taşır.</a:t>
            </a:r>
            <a:endParaRPr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60525" y="2528887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72162" y="2528887"/>
            <a:ext cx="4476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0449" y="2528887"/>
            <a:ext cx="6477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Özellik Füzyonu ve FDA Yaklaşımı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21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4857750" y="2800350"/>
            <a:ext cx="71008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Ham Sinyal İşleme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4857750" y="3333750"/>
            <a:ext cx="6762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Dieleman ve Schrauwen tarafından temelleri atılan bu yaklaşım, sese hiçbir Fourier dönüşümü uygulamadan ham dalga formunu doğrudan işler.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857750" y="4133850"/>
            <a:ext cx="6762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Gammatone Filtreleri: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Allamy ve Koerich (2021), insan iç kulağını taklit eden filtrelerle %80.93 başarıya ulaşmıştır.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Uçtan Uca Öğrenme: 1D CNN</a:t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762000" y="571500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2D CNN ve Transfer Öğrenme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571500"/>
            <a:ext cx="76200" cy="9906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71500" y="1943100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Google VGGish Mimarisi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24765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UC Berkeley araştırmacıları, Google'ın devasa Audioset veri tabanında eğitilmiş VGGish modelini Transfer Öğrenme ile FMA-Small'a uygulamıştır.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35814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 yöntem, önceden öğrenilmiş görsel-akustik paternleri kullanarak temel modellerin başarısını net %7.75 oranında artırmaktadır.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1712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271712"/>
            <a:ext cx="3492549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271712"/>
            <a:ext cx="3492549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844231" y="3481387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CNN Kolu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914400" y="40147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Spektrogram üzerinden müzikal tınıyı ve anlık frekans detaylarını analiz eder.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4622530" y="3481387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RNN / Bi-GRU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4692699" y="40147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Müziğin ritmini, zamansal akışını ve şarkı yapısını kavramak için kullanılır.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8400830" y="3481387"/>
            <a:ext cx="294708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Hibrit Başarı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470999" y="4014787"/>
            <a:ext cx="28067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CNN + Bi-GRU yapısı, hem geçmişi hem geleceği analiz ederek %89.30 doğruluğa ulaşır.</a:t>
            </a:r>
            <a:endParaRPr/>
          </a:p>
        </p:txBody>
      </p:sp>
      <p:pic>
        <p:nvPicPr>
          <p:cNvPr id="196" name="Google Shape;196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27187" y="2681287"/>
            <a:ext cx="5810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825" y="2681287"/>
            <a:ext cx="5143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83787" y="2681287"/>
            <a:ext cx="5810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Zamansal Dinamikler: CRNN Yapısı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2"/>
          <p:cNvSpPr txBox="1"/>
          <p:nvPr/>
        </p:nvSpPr>
        <p:spPr>
          <a:xfrm>
            <a:off x="571500" y="2952750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003366"/>
                </a:solidFill>
                <a:latin typeface="DM Sans"/>
                <a:ea typeface="DM Sans"/>
                <a:cs typeface="DM Sans"/>
                <a:sym typeface="DM Sans"/>
              </a:rPr>
              <a:t>96.07%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571500" y="4381500"/>
            <a:ext cx="528637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4E157"/>
                </a:solidFill>
                <a:latin typeface="DM Sans"/>
                <a:ea typeface="DM Sans"/>
                <a:cs typeface="DM Sans"/>
                <a:sym typeface="DM Sans"/>
              </a:rPr>
              <a:t>Rekor Doğruluk (2025)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715125" y="2647950"/>
            <a:ext cx="51506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Transformer Mekanizmaları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6715125" y="31813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Zhang ve Li (2025), Paralel CNN kollarını Capuchin Arama Algoritması ile optimize ederek zirveye ulaşmıştır.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715125" y="4310634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Audio Spectrogram Transformer (AST):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Dil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modellerindeki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'Attention'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mekanizmasını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müzik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verisine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uygulayarak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tüm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standart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CNN'leri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geride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bırakmaktadır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211" name="Google Shape;211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Yeni Nesil: AST ve Paralel Ağlar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3"/>
          <p:cNvSpPr/>
          <p:nvPr/>
        </p:nvSpPr>
        <p:spPr>
          <a:xfrm>
            <a:off x="571500" y="3324225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510733" y="3609975"/>
            <a:ext cx="25521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Veri Yönetimi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571500" y="40671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FMA-Small (8 tür), Track-level bölme, 3sn kesitler.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3383413" y="3609975"/>
            <a:ext cx="25521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Özellik Temsili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3444180" y="4067175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Grayscale Mel-spektrogram, Late Fusion stratejisi.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256094" y="3609975"/>
            <a:ext cx="25521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Mimari İnşa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316860" y="40671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VGGish tabanlı Transfer Learning + Bi-GRU (CRNN).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9128774" y="3609975"/>
            <a:ext cx="25521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Gelecek Vizyonu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189541" y="4067175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Hibrit AST ve CNN-TE bloklarının entegrasyonu.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Proje Nihai Stratejisi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4E1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1672530" y="273824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4545210" y="273824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7417891" y="273824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10290571" y="2738247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033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3690699" y="2103090"/>
            <a:ext cx="4810601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r-TR" sz="6000" b="1" i="0" u="none" strike="noStrike" cap="none" dirty="0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Teşekkürler</a:t>
            </a:r>
            <a:endParaRPr dirty="0"/>
          </a:p>
        </p:txBody>
      </p:sp>
      <p:sp>
        <p:nvSpPr>
          <p:cNvPr id="239" name="Google Shape;239;p24"/>
          <p:cNvSpPr txBox="1"/>
          <p:nvPr/>
        </p:nvSpPr>
        <p:spPr>
          <a:xfrm>
            <a:off x="3790950" y="3484215"/>
            <a:ext cx="46101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CNN Tabanlı Müzik Türü Sınıflandırma Projesi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552</Words>
  <Application>Microsoft Office PowerPoint</Application>
  <PresentationFormat>Geniş ekran</PresentationFormat>
  <Paragraphs>61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DM Sans</vt:lpstr>
      <vt:lpstr>Calibri</vt:lpstr>
      <vt:lpstr>Merriweather</vt:lpstr>
      <vt:lpstr>Arial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Tolga Direk</cp:lastModifiedBy>
  <cp:revision>3</cp:revision>
  <dcterms:modified xsi:type="dcterms:W3CDTF">2026-05-03T19:00:57Z</dcterms:modified>
</cp:coreProperties>
</file>