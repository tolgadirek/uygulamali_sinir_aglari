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r-TR"/>
  <c:roundedCorners val="0"/>
  <c:style val="2"/>
  <c:chart>
    <c:title>
      <c:tx>
        <c:rich>
          <a:bodyPr/>
          <a:lstStyle/>
          <a:p>
            <a:r>
              <a:rPr lang="tr-TR"/>
              <a:t>V1 ve V2 karşılaştırması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V1</c:v>
          </c:tx>
          <c:invertIfNegative val="1"/>
          <c:cat>
            <c:strLit>
              <c:ptCount val="3"/>
              <c:pt idx="0">
                <c:v>Accuracy</c:v>
              </c:pt>
              <c:pt idx="1">
                <c:v>Macro F1</c:v>
              </c:pt>
              <c:pt idx="2">
                <c:v>Weighted F1</c:v>
              </c:pt>
            </c:strLit>
          </c:cat>
          <c:val>
            <c:numLit>
              <c:formatCode>General</c:formatCode>
              <c:ptCount val="3"/>
              <c:pt idx="0">
                <c:v>0.60629999999999995</c:v>
              </c:pt>
              <c:pt idx="1">
                <c:v>0.59</c:v>
              </c:pt>
              <c:pt idx="2">
                <c:v>0.59</c:v>
              </c:pt>
            </c:numLit>
          </c:val>
          <c:extLst>
            <c:ext xmlns:c16="http://schemas.microsoft.com/office/drawing/2014/chart" uri="{C3380CC4-5D6E-409C-BE32-E72D297353CC}">
              <c16:uniqueId val="{00000000-FC5C-45DA-A8C2-F2BA29FDA268}"/>
            </c:ext>
          </c:extLst>
        </c:ser>
        <c:ser>
          <c:idx val="1"/>
          <c:order val="1"/>
          <c:tx>
            <c:v>V2</c:v>
          </c:tx>
          <c:invertIfNegative val="1"/>
          <c:cat>
            <c:strLit>
              <c:ptCount val="3"/>
              <c:pt idx="0">
                <c:v>Accuracy</c:v>
              </c:pt>
              <c:pt idx="1">
                <c:v>Macro F1</c:v>
              </c:pt>
              <c:pt idx="2">
                <c:v>Weighted F1</c:v>
              </c:pt>
            </c:strLit>
          </c:cat>
          <c:val>
            <c:numLit>
              <c:formatCode>General</c:formatCode>
              <c:ptCount val="3"/>
              <c:pt idx="0">
                <c:v>0.61880000000000002</c:v>
              </c:pt>
              <c:pt idx="1">
                <c:v>0.62</c:v>
              </c:pt>
              <c:pt idx="2">
                <c:v>0.62</c:v>
              </c:pt>
            </c:numLit>
          </c:val>
          <c:extLst>
            <c:ext xmlns:c16="http://schemas.microsoft.com/office/drawing/2014/chart" uri="{C3380CC4-5D6E-409C-BE32-E72D297353CC}">
              <c16:uniqueId val="{00000001-FC5C-45DA-A8C2-F2BA29FDA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tr-TR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ver-bg">
            <a:extLst>
              <a:ext uri="{FF2B5EF4-FFF2-40B4-BE49-F238E27FC236}">
                <a16:creationId xmlns:a16="http://schemas.microsoft.com/office/drawing/2014/main" id="{1447903F-4643-4545-BD1D-DEB75806B4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cover-cyan-field">
            <a:extLst>
              <a:ext uri="{FF2B5EF4-FFF2-40B4-BE49-F238E27FC236}">
                <a16:creationId xmlns:a16="http://schemas.microsoft.com/office/drawing/2014/main" id="{2716565F-BD5B-427D-889A-189FF2F604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10287000"/>
          </a:xfrm>
          <a:prstGeom prst="rect">
            <a:avLst/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cover-coral-block">
            <a:extLst>
              <a:ext uri="{FF2B5EF4-FFF2-40B4-BE49-F238E27FC236}">
                <a16:creationId xmlns:a16="http://schemas.microsoft.com/office/drawing/2014/main" id="{931F63DB-EB8A-409D-A92D-1C74DDE3BE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4" name="chip-pytorch">
            <a:extLst>
              <a:ext uri="{FF2B5EF4-FFF2-40B4-BE49-F238E27FC236}">
                <a16:creationId xmlns:a16="http://schemas.microsoft.com/office/drawing/2014/main" id="{BB421B98-265E-43B9-A0F8-55517317B2D3}"/>
              </a:ext>
            </a:extLst>
          </p:cNvPr>
          <p:cNvSpPr>
            <a:spLocks noGrp="1"/>
          </p:cNvSpPr>
          <p:nvPr/>
        </p:nvSpPr>
        <p:spPr>
          <a:xfrm>
            <a:off x="742950" y="571500"/>
            <a:ext cx="863060" cy="563880"/>
          </a:xfrm>
          <a:prstGeom prst="roundRect">
            <a:avLst>
              <a:gd name="adj" fmla="val 13514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873D4E2-AD3F-4788-8CF8-3BCA81C0E52B}"/>
              </a:ext>
            </a:extLst>
          </p:cNvPr>
          <p:cNvSpPr>
            <a:spLocks noGrp="1"/>
          </p:cNvSpPr>
          <p:nvPr/>
        </p:nvSpPr>
        <p:spPr>
          <a:xfrm>
            <a:off x="895350" y="647700"/>
            <a:ext cx="552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4F46E5"/>
                </a:solidFill>
              </a:defRPr>
            </a:pPr>
            <a:r>
              <a:rPr sz="1350" b="1">
                <a:solidFill>
                  <a:srgbClr val="4F46E5"/>
                </a:solidFill>
              </a:rPr>
              <a:t>PyTorch</a:t>
            </a:r>
          </a:p>
        </p:txBody>
      </p:sp>
      <p:sp>
        <p:nvSpPr>
          <p:cNvPr id="6" name="chip-fma-small">
            <a:extLst>
              <a:ext uri="{FF2B5EF4-FFF2-40B4-BE49-F238E27FC236}">
                <a16:creationId xmlns:a16="http://schemas.microsoft.com/office/drawing/2014/main" id="{F30955D7-9BDA-4782-A979-DA04F933287D}"/>
              </a:ext>
            </a:extLst>
          </p:cNvPr>
          <p:cNvSpPr>
            <a:spLocks noGrp="1"/>
          </p:cNvSpPr>
          <p:nvPr/>
        </p:nvSpPr>
        <p:spPr>
          <a:xfrm>
            <a:off x="1720310" y="571500"/>
            <a:ext cx="1065371" cy="563880"/>
          </a:xfrm>
          <a:prstGeom prst="roundRect">
            <a:avLst>
              <a:gd name="adj" fmla="val 13514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0A31F1DF-1796-4C1A-B215-C01C2CA70758}"/>
              </a:ext>
            </a:extLst>
          </p:cNvPr>
          <p:cNvSpPr>
            <a:spLocks noGrp="1"/>
          </p:cNvSpPr>
          <p:nvPr/>
        </p:nvSpPr>
        <p:spPr>
          <a:xfrm>
            <a:off x="1866900" y="647700"/>
            <a:ext cx="762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5A5F"/>
                </a:solidFill>
              </a:defRPr>
            </a:pPr>
            <a:r>
              <a:rPr sz="1350" b="1">
                <a:solidFill>
                  <a:srgbClr val="FF5A5F"/>
                </a:solidFill>
              </a:rPr>
              <a:t>FMA Small</a:t>
            </a:r>
          </a:p>
        </p:txBody>
      </p:sp>
      <p:sp>
        <p:nvSpPr>
          <p:cNvPr id="8" name="chip-genrecnn-v2">
            <a:extLst>
              <a:ext uri="{FF2B5EF4-FFF2-40B4-BE49-F238E27FC236}">
                <a16:creationId xmlns:a16="http://schemas.microsoft.com/office/drawing/2014/main" id="{4E2FAD57-B315-4C42-B250-922D2497311A}"/>
              </a:ext>
            </a:extLst>
          </p:cNvPr>
          <p:cNvSpPr>
            <a:spLocks noGrp="1"/>
          </p:cNvSpPr>
          <p:nvPr/>
        </p:nvSpPr>
        <p:spPr>
          <a:xfrm>
            <a:off x="2899982" y="571500"/>
            <a:ext cx="1281303" cy="563880"/>
          </a:xfrm>
          <a:prstGeom prst="roundRect">
            <a:avLst>
              <a:gd name="adj" fmla="val 13514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D4B2601-D4B5-4751-B3E0-49418135A517}"/>
              </a:ext>
            </a:extLst>
          </p:cNvPr>
          <p:cNvSpPr>
            <a:spLocks noGrp="1"/>
          </p:cNvSpPr>
          <p:nvPr/>
        </p:nvSpPr>
        <p:spPr>
          <a:xfrm>
            <a:off x="3048000" y="647700"/>
            <a:ext cx="971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8A058"/>
                </a:solidFill>
              </a:defRPr>
            </a:pPr>
            <a:r>
              <a:rPr sz="1350" b="1">
                <a:solidFill>
                  <a:srgbClr val="18A058"/>
                </a:solidFill>
              </a:rPr>
              <a:t>GenreCNN V2</a:t>
            </a:r>
          </a:p>
        </p:txBody>
      </p:sp>
      <p:sp>
        <p:nvSpPr>
          <p:cNvPr id="10" name="slide-title">
            <a:extLst>
              <a:ext uri="{FF2B5EF4-FFF2-40B4-BE49-F238E27FC236}">
                <a16:creationId xmlns:a16="http://schemas.microsoft.com/office/drawing/2014/main" id="{EB698728-2C45-4C30-BC1D-DA7C63B2DBBE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7543800" cy="1828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000" b="1">
                <a:solidFill>
                  <a:srgbClr val="101820"/>
                </a:solidFill>
              </a:defRPr>
            </a:pPr>
            <a:r>
              <a:rPr sz="6000" b="1">
                <a:solidFill>
                  <a:srgbClr val="101820"/>
                </a:solidFill>
              </a:rPr>
              <a:t>CNN Tabanlı Müzik Türü Tanıma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3F34BB76-A556-42D5-A226-2B8E989ECC02}"/>
              </a:ext>
            </a:extLst>
          </p:cNvPr>
          <p:cNvSpPr>
            <a:spLocks noGrp="1"/>
          </p:cNvSpPr>
          <p:nvPr/>
        </p:nvSpPr>
        <p:spPr>
          <a:xfrm>
            <a:off x="742950" y="3467100"/>
            <a:ext cx="82296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53616E"/>
                </a:solidFill>
              </a:defRPr>
            </a:pPr>
            <a:r>
              <a:rPr sz="2175">
                <a:solidFill>
                  <a:srgbClr val="53616E"/>
                </a:solidFill>
              </a:rPr>
              <a:t>Mel-spektrogram girdisi, residual bloklar ve squeeze-and-excitation dikkat katmanlarıyla 8 tür sınıflandırması.</a:t>
            </a:r>
          </a:p>
        </p:txBody>
      </p:sp>
      <p:sp>
        <p:nvSpPr>
          <p:cNvPr id="12" name="cover-rule">
            <a:extLst>
              <a:ext uri="{FF2B5EF4-FFF2-40B4-BE49-F238E27FC236}">
                <a16:creationId xmlns:a16="http://schemas.microsoft.com/office/drawing/2014/main" id="{F9D97A9B-D76E-4B61-9373-BFF7D4AC342E}"/>
              </a:ext>
            </a:extLst>
          </p:cNvPr>
          <p:cNvSpPr>
            <a:spLocks noGrp="1"/>
          </p:cNvSpPr>
          <p:nvPr/>
        </p:nvSpPr>
        <p:spPr>
          <a:xfrm>
            <a:off x="742950" y="4362450"/>
            <a:ext cx="2286000" cy="47625"/>
          </a:xfrm>
          <a:prstGeom prst="rect">
            <a:avLst/>
          </a:prstGeom>
          <a:solidFill>
            <a:srgbClr val="FF5A5F"/>
          </a:solidFill>
          <a:ln w="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metric-test-accuracy">
            <a:extLst>
              <a:ext uri="{FF2B5EF4-FFF2-40B4-BE49-F238E27FC236}">
                <a16:creationId xmlns:a16="http://schemas.microsoft.com/office/drawing/2014/main" id="{BF113F9C-6A72-42EB-A6B1-1343079018AF}"/>
              </a:ext>
            </a:extLst>
          </p:cNvPr>
          <p:cNvSpPr>
            <a:spLocks noGrp="1"/>
          </p:cNvSpPr>
          <p:nvPr/>
        </p:nvSpPr>
        <p:spPr>
          <a:xfrm>
            <a:off x="742950" y="4665345"/>
            <a:ext cx="427310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4" name="metric-label-Test accuracy">
            <a:extLst>
              <a:ext uri="{FF2B5EF4-FFF2-40B4-BE49-F238E27FC236}">
                <a16:creationId xmlns:a16="http://schemas.microsoft.com/office/drawing/2014/main" id="{0630B7E8-3C5A-46DE-AD9D-5995FA3789F0}"/>
              </a:ext>
            </a:extLst>
          </p:cNvPr>
          <p:cNvSpPr>
            <a:spLocks noGrp="1"/>
          </p:cNvSpPr>
          <p:nvPr/>
        </p:nvSpPr>
        <p:spPr>
          <a:xfrm>
            <a:off x="1009650" y="489585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Test accuracy</a:t>
            </a:r>
          </a:p>
        </p:txBody>
      </p:sp>
      <p:sp>
        <p:nvSpPr>
          <p:cNvPr id="15" name="metric-value-Test accuracy">
            <a:extLst>
              <a:ext uri="{FF2B5EF4-FFF2-40B4-BE49-F238E27FC236}">
                <a16:creationId xmlns:a16="http://schemas.microsoft.com/office/drawing/2014/main" id="{FF084E9E-F539-4877-BDE9-35143FEF9162}"/>
              </a:ext>
            </a:extLst>
          </p:cNvPr>
          <p:cNvSpPr>
            <a:spLocks noGrp="1"/>
          </p:cNvSpPr>
          <p:nvPr/>
        </p:nvSpPr>
        <p:spPr>
          <a:xfrm>
            <a:off x="1009650" y="5219700"/>
            <a:ext cx="37338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lang="tr-TR" sz="4350" b="1" dirty="0">
                <a:solidFill>
                  <a:srgbClr val="FF5A5F"/>
                </a:solidFill>
              </a:rPr>
              <a:t>74</a:t>
            </a:r>
            <a:r>
              <a:rPr sz="4350" b="1" dirty="0">
                <a:solidFill>
                  <a:srgbClr val="FF5A5F"/>
                </a:solidFill>
              </a:rPr>
              <a:t>%</a:t>
            </a:r>
          </a:p>
        </p:txBody>
      </p:sp>
      <p:sp>
        <p:nvSpPr>
          <p:cNvPr id="16" name="metric-note-Test accuracy">
            <a:extLst>
              <a:ext uri="{FF2B5EF4-FFF2-40B4-BE49-F238E27FC236}">
                <a16:creationId xmlns:a16="http://schemas.microsoft.com/office/drawing/2014/main" id="{FAC57FB3-AE36-424E-B3B2-3014A39230B1}"/>
              </a:ext>
            </a:extLst>
          </p:cNvPr>
          <p:cNvSpPr>
            <a:spLocks noGrp="1"/>
          </p:cNvSpPr>
          <p:nvPr/>
        </p:nvSpPr>
        <p:spPr>
          <a:xfrm>
            <a:off x="1009650" y="598170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 dirty="0">
                <a:solidFill>
                  <a:srgbClr val="53616E"/>
                </a:solidFill>
              </a:rPr>
              <a:t>V1: 60.63%</a:t>
            </a:r>
          </a:p>
        </p:txBody>
      </p:sp>
      <p:sp>
        <p:nvSpPr>
          <p:cNvPr id="17" name="metric-macro-f1">
            <a:extLst>
              <a:ext uri="{FF2B5EF4-FFF2-40B4-BE49-F238E27FC236}">
                <a16:creationId xmlns:a16="http://schemas.microsoft.com/office/drawing/2014/main" id="{2D8A2A82-B09B-4273-A8A0-5EDBE4156708}"/>
              </a:ext>
            </a:extLst>
          </p:cNvPr>
          <p:cNvSpPr>
            <a:spLocks noGrp="1"/>
          </p:cNvSpPr>
          <p:nvPr/>
        </p:nvSpPr>
        <p:spPr>
          <a:xfrm>
            <a:off x="5244656" y="4665345"/>
            <a:ext cx="427310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8" name="metric-label-Macro F1">
            <a:extLst>
              <a:ext uri="{FF2B5EF4-FFF2-40B4-BE49-F238E27FC236}">
                <a16:creationId xmlns:a16="http://schemas.microsoft.com/office/drawing/2014/main" id="{9348F7CF-2407-4D14-913A-E19BB421163F}"/>
              </a:ext>
            </a:extLst>
          </p:cNvPr>
          <p:cNvSpPr>
            <a:spLocks noGrp="1"/>
          </p:cNvSpPr>
          <p:nvPr/>
        </p:nvSpPr>
        <p:spPr>
          <a:xfrm>
            <a:off x="5505450" y="489585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Macro F1</a:t>
            </a:r>
          </a:p>
        </p:txBody>
      </p:sp>
      <p:sp>
        <p:nvSpPr>
          <p:cNvPr id="19" name="metric-value-Macro F1">
            <a:extLst>
              <a:ext uri="{FF2B5EF4-FFF2-40B4-BE49-F238E27FC236}">
                <a16:creationId xmlns:a16="http://schemas.microsoft.com/office/drawing/2014/main" id="{303A4195-283D-43A5-AFBB-1285B188234A}"/>
              </a:ext>
            </a:extLst>
          </p:cNvPr>
          <p:cNvSpPr>
            <a:spLocks noGrp="1"/>
          </p:cNvSpPr>
          <p:nvPr/>
        </p:nvSpPr>
        <p:spPr>
          <a:xfrm>
            <a:off x="5505450" y="5219700"/>
            <a:ext cx="37338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0.62</a:t>
            </a:r>
          </a:p>
        </p:txBody>
      </p:sp>
      <p:sp>
        <p:nvSpPr>
          <p:cNvPr id="20" name="metric-note-Macro F1">
            <a:extLst>
              <a:ext uri="{FF2B5EF4-FFF2-40B4-BE49-F238E27FC236}">
                <a16:creationId xmlns:a16="http://schemas.microsoft.com/office/drawing/2014/main" id="{F0134A5E-44A0-45D8-A5F5-C09FBA8E9A97}"/>
              </a:ext>
            </a:extLst>
          </p:cNvPr>
          <p:cNvSpPr>
            <a:spLocks noGrp="1"/>
          </p:cNvSpPr>
          <p:nvPr/>
        </p:nvSpPr>
        <p:spPr>
          <a:xfrm>
            <a:off x="5505450" y="5981700"/>
            <a:ext cx="373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V1: 0.59 | daha dengeli sınıflar</a:t>
            </a:r>
          </a:p>
        </p:txBody>
      </p:sp>
      <p:sp>
        <p:nvSpPr>
          <p:cNvPr id="21" name="cover-image-panel">
            <a:extLst>
              <a:ext uri="{FF2B5EF4-FFF2-40B4-BE49-F238E27FC236}">
                <a16:creationId xmlns:a16="http://schemas.microsoft.com/office/drawing/2014/main" id="{B52BB584-2FF3-408A-A3CC-49B4774EAE28}"/>
              </a:ext>
            </a:extLst>
          </p:cNvPr>
          <p:cNvSpPr>
            <a:spLocks noGrp="1"/>
          </p:cNvSpPr>
          <p:nvPr/>
        </p:nvSpPr>
        <p:spPr>
          <a:xfrm>
            <a:off x="10070211" y="571500"/>
            <a:ext cx="7474839" cy="8961120"/>
          </a:xfrm>
          <a:prstGeom prst="roundRect">
            <a:avLst>
              <a:gd name="adj" fmla="val 1019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pic>
        <p:nvPicPr>
          <p:cNvPr id="22" name="cover-mel-samples"/>
          <p:cNvPicPr>
            <a:picLocks noChangeAspect="1"/>
          </p:cNvPicPr>
          <p:nvPr/>
        </p:nvPicPr>
        <p:blipFill>
          <a:blip r:embed="rId3"/>
          <a:srcRect l="33309" r="33309"/>
          <a:stretch>
            <a:fillRect/>
          </a:stretch>
        </p:blipFill>
        <p:spPr>
          <a:xfrm>
            <a:off x="10241661" y="742950"/>
            <a:ext cx="7131939" cy="8290560"/>
          </a:xfrm>
          <a:prstGeom prst="rect">
            <a:avLst/>
          </a:prstGeom>
        </p:spPr>
      </p:pic>
      <p:sp>
        <p:nvSpPr>
          <p:cNvPr id="23" name="cover-image-caption">
            <a:extLst>
              <a:ext uri="{FF2B5EF4-FFF2-40B4-BE49-F238E27FC236}">
                <a16:creationId xmlns:a16="http://schemas.microsoft.com/office/drawing/2014/main" id="{45F310D6-82F8-4D4E-A8F1-E52FB93F9192}"/>
              </a:ext>
            </a:extLst>
          </p:cNvPr>
          <p:cNvSpPr>
            <a:spLocks noGrp="1"/>
          </p:cNvSpPr>
          <p:nvPr/>
        </p:nvSpPr>
        <p:spPr>
          <a:xfrm>
            <a:off x="10248900" y="9163050"/>
            <a:ext cx="7124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3616E"/>
                </a:solidFill>
              </a:defRPr>
            </a:pPr>
            <a:r>
              <a:rPr sz="1275">
                <a:solidFill>
                  <a:srgbClr val="53616E"/>
                </a:solidFill>
              </a:rPr>
              <a:t>Ses sinyali CNN'e görüntü benzeri log-mel temsil olarak veriliyor.</a:t>
            </a:r>
          </a:p>
        </p:txBody>
      </p:sp>
      <p:sp>
        <p:nvSpPr>
          <p:cNvPr id="24" name="source-1">
            <a:extLst>
              <a:ext uri="{FF2B5EF4-FFF2-40B4-BE49-F238E27FC236}">
                <a16:creationId xmlns:a16="http://schemas.microsoft.com/office/drawing/2014/main" id="{914D1BAB-592E-4996-85CD-A4EA5751D57B}"/>
              </a:ext>
            </a:extLst>
          </p:cNvPr>
          <p:cNvSpPr>
            <a:spLocks noGrp="1"/>
          </p:cNvSpPr>
          <p:nvPr/>
        </p:nvSpPr>
        <p:spPr>
          <a:xfrm>
            <a:off x="742950" y="9525000"/>
            <a:ext cx="82677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Proje: cnn-based-genre-recognition-fma</a:t>
            </a:r>
          </a:p>
        </p:txBody>
      </p:sp>
      <p:sp>
        <p:nvSpPr>
          <p:cNvPr id="25" name="slide-number-1">
            <a:extLst>
              <a:ext uri="{FF2B5EF4-FFF2-40B4-BE49-F238E27FC236}">
                <a16:creationId xmlns:a16="http://schemas.microsoft.com/office/drawing/2014/main" id="{7462DE32-882F-46DC-874E-3093BD9B986C}"/>
              </a:ext>
            </a:extLst>
          </p:cNvPr>
          <p:cNvSpPr>
            <a:spLocks noGrp="1"/>
          </p:cNvSpPr>
          <p:nvPr/>
        </p:nvSpPr>
        <p:spPr>
          <a:xfrm>
            <a:off x="9201150" y="95250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476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-2">
            <a:extLst>
              <a:ext uri="{FF2B5EF4-FFF2-40B4-BE49-F238E27FC236}">
                <a16:creationId xmlns:a16="http://schemas.microsoft.com/office/drawing/2014/main" id="{7A96E9FF-2375-4AF3-A415-11FCEE59FC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2">
            <a:extLst>
              <a:ext uri="{FF2B5EF4-FFF2-40B4-BE49-F238E27FC236}">
                <a16:creationId xmlns:a16="http://schemas.microsoft.com/office/drawing/2014/main" id="{EDB512AA-EB77-4A51-9644-2354BBB948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5B301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87DA302-71D6-4463-B0F5-A1B7AD9390E0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Temel fikir: sesi CNN için görüntüye çevirmek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08B5D173-E46B-48C3-8726-AAFE3C0F231E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889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Model ham dalga formunu değil, zaman-frekans yapısını taşıyan log-mel spektrogramı öğreniyor.</a:t>
            </a:r>
          </a:p>
        </p:txBody>
      </p:sp>
      <p:sp>
        <p:nvSpPr>
          <p:cNvPr id="6" name="flow-mp3/wav/ogg">
            <a:extLst>
              <a:ext uri="{FF2B5EF4-FFF2-40B4-BE49-F238E27FC236}">
                <a16:creationId xmlns:a16="http://schemas.microsoft.com/office/drawing/2014/main" id="{F0535878-D6D3-4E2A-A11D-FD863829C962}"/>
              </a:ext>
            </a:extLst>
          </p:cNvPr>
          <p:cNvSpPr>
            <a:spLocks noGrp="1"/>
          </p:cNvSpPr>
          <p:nvPr/>
        </p:nvSpPr>
        <p:spPr>
          <a:xfrm>
            <a:off x="723900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FFF8D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5BD661A-F2F7-4EAF-8529-20A4BC069F07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MP3/WAV/OGG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F9CCD87-1A1A-403D-BC8C-C14EA784FA20}"/>
              </a:ext>
            </a:extLst>
          </p:cNvPr>
          <p:cNvSpPr>
            <a:spLocks noGrp="1"/>
          </p:cNvSpPr>
          <p:nvPr/>
        </p:nvSpPr>
        <p:spPr>
          <a:xfrm>
            <a:off x="95250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30 sn mono ses</a:t>
            </a:r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4DE9CA82-0C56-4CFB-B69E-27B1F69240FA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5B301"/>
                </a:solidFill>
              </a:defRPr>
            </a:pPr>
            <a:r>
              <a:rPr sz="2700" b="1">
                <a:solidFill>
                  <a:srgbClr val="F5B301"/>
                </a:solidFill>
              </a:rPr>
              <a:t>-&gt;</a:t>
            </a:r>
          </a:p>
        </p:txBody>
      </p:sp>
      <p:sp>
        <p:nvSpPr>
          <p:cNvPr id="10" name="flow-librosa">
            <a:extLst>
              <a:ext uri="{FF2B5EF4-FFF2-40B4-BE49-F238E27FC236}">
                <a16:creationId xmlns:a16="http://schemas.microsoft.com/office/drawing/2014/main" id="{4F24A610-0A5E-47B4-BE61-380AA5CD9036}"/>
              </a:ext>
            </a:extLst>
          </p:cNvPr>
          <p:cNvSpPr>
            <a:spLocks noGrp="1"/>
          </p:cNvSpPr>
          <p:nvPr/>
        </p:nvSpPr>
        <p:spPr>
          <a:xfrm>
            <a:off x="5119688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C44CB22D-64A0-49DF-8C9A-2CE66770BC00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Librosa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3D21524-DCC3-4D46-89BE-0E4AD1454FFF}"/>
              </a:ext>
            </a:extLst>
          </p:cNvPr>
          <p:cNvSpPr>
            <a:spLocks noGrp="1"/>
          </p:cNvSpPr>
          <p:nvPr/>
        </p:nvSpPr>
        <p:spPr>
          <a:xfrm>
            <a:off x="535305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22.05 kHz, normalize</a:t>
            </a:r>
          </a:p>
        </p:txBody>
      </p:sp>
      <p:sp>
        <p:nvSpPr>
          <p:cNvPr id="13" name="arrow-2">
            <a:extLst>
              <a:ext uri="{FF2B5EF4-FFF2-40B4-BE49-F238E27FC236}">
                <a16:creationId xmlns:a16="http://schemas.microsoft.com/office/drawing/2014/main" id="{A0FA3C48-C2B2-4014-821A-84DDAE3F6B11}"/>
              </a:ext>
            </a:extLst>
          </p:cNvPr>
          <p:cNvSpPr>
            <a:spLocks noGrp="1"/>
          </p:cNvSpPr>
          <p:nvPr/>
        </p:nvSpPr>
        <p:spPr>
          <a:xfrm>
            <a:off x="8896350" y="1943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0A6D6"/>
                </a:solidFill>
              </a:defRPr>
            </a:pPr>
            <a:r>
              <a:rPr sz="2700" b="1">
                <a:solidFill>
                  <a:srgbClr val="00A6D6"/>
                </a:solidFill>
              </a:rPr>
              <a:t>-&gt;</a:t>
            </a:r>
          </a:p>
        </p:txBody>
      </p:sp>
      <p:sp>
        <p:nvSpPr>
          <p:cNvPr id="14" name="flow-log-mel">
            <a:extLst>
              <a:ext uri="{FF2B5EF4-FFF2-40B4-BE49-F238E27FC236}">
                <a16:creationId xmlns:a16="http://schemas.microsoft.com/office/drawing/2014/main" id="{6F89C3A9-2AB4-454F-9B6F-9136A054EFC8}"/>
              </a:ext>
            </a:extLst>
          </p:cNvPr>
          <p:cNvSpPr>
            <a:spLocks noGrp="1"/>
          </p:cNvSpPr>
          <p:nvPr/>
        </p:nvSpPr>
        <p:spPr>
          <a:xfrm>
            <a:off x="9515475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2C0E789E-8906-4951-9BA1-6AFA8BB5D0AC}"/>
              </a:ext>
            </a:extLst>
          </p:cNvPr>
          <p:cNvSpPr>
            <a:spLocks noGrp="1"/>
          </p:cNvSpPr>
          <p:nvPr/>
        </p:nvSpPr>
        <p:spPr>
          <a:xfrm>
            <a:off x="975360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Log-Mel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3BE3F7F-53BE-4B25-9FE9-94E902614F09}"/>
              </a:ext>
            </a:extLst>
          </p:cNvPr>
          <p:cNvSpPr>
            <a:spLocks noGrp="1"/>
          </p:cNvSpPr>
          <p:nvPr/>
        </p:nvSpPr>
        <p:spPr>
          <a:xfrm>
            <a:off x="975360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1 x 128 x 1292 tensor</a:t>
            </a:r>
          </a:p>
        </p:txBody>
      </p:sp>
      <p:sp>
        <p:nvSpPr>
          <p:cNvPr id="17" name="arrow-3">
            <a:extLst>
              <a:ext uri="{FF2B5EF4-FFF2-40B4-BE49-F238E27FC236}">
                <a16:creationId xmlns:a16="http://schemas.microsoft.com/office/drawing/2014/main" id="{3B89DB44-16D8-4C69-BBEB-D24D5BEEFF80}"/>
              </a:ext>
            </a:extLst>
          </p:cNvPr>
          <p:cNvSpPr>
            <a:spLocks noGrp="1"/>
          </p:cNvSpPr>
          <p:nvPr/>
        </p:nvSpPr>
        <p:spPr>
          <a:xfrm>
            <a:off x="13277850" y="1943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8A058"/>
                </a:solidFill>
              </a:defRPr>
            </a:pPr>
            <a:r>
              <a:rPr sz="2700" b="1">
                <a:solidFill>
                  <a:srgbClr val="18A058"/>
                </a:solidFill>
              </a:rPr>
              <a:t>-&gt;</a:t>
            </a:r>
          </a:p>
        </p:txBody>
      </p:sp>
      <p:sp>
        <p:nvSpPr>
          <p:cNvPr id="18" name="flow-genrecnn-v2">
            <a:extLst>
              <a:ext uri="{FF2B5EF4-FFF2-40B4-BE49-F238E27FC236}">
                <a16:creationId xmlns:a16="http://schemas.microsoft.com/office/drawing/2014/main" id="{E29B571C-30D9-4E2A-8C59-DDB4224EB13A}"/>
              </a:ext>
            </a:extLst>
          </p:cNvPr>
          <p:cNvSpPr>
            <a:spLocks noGrp="1"/>
          </p:cNvSpPr>
          <p:nvPr/>
        </p:nvSpPr>
        <p:spPr>
          <a:xfrm>
            <a:off x="13911263" y="1941195"/>
            <a:ext cx="3652838" cy="1428750"/>
          </a:xfrm>
          <a:prstGeom prst="roundRect">
            <a:avLst>
              <a:gd name="adj" fmla="val 5333"/>
            </a:avLst>
          </a:prstGeom>
          <a:solidFill>
            <a:srgbClr val="FFF0F0"/>
          </a:solidFill>
        </p:spPr>
        <p:txBody>
          <a:bodyPr/>
          <a:lstStyle/>
          <a:p>
            <a:endParaRPr lang="tr-TR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D5D2927-A077-4405-B868-28D45753C84E}"/>
              </a:ext>
            </a:extLst>
          </p:cNvPr>
          <p:cNvSpPr>
            <a:spLocks noGrp="1"/>
          </p:cNvSpPr>
          <p:nvPr/>
        </p:nvSpPr>
        <p:spPr>
          <a:xfrm>
            <a:off x="14135100" y="2133600"/>
            <a:ext cx="3200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GenreCNN V2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2A00A98E-AA31-4B69-B752-DF1DA4A9F72C}"/>
              </a:ext>
            </a:extLst>
          </p:cNvPr>
          <p:cNvSpPr>
            <a:spLocks noGrp="1"/>
          </p:cNvSpPr>
          <p:nvPr/>
        </p:nvSpPr>
        <p:spPr>
          <a:xfrm>
            <a:off x="14135100" y="253365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8 tür olasılığı</a:t>
            </a:r>
          </a:p>
        </p:txBody>
      </p:sp>
      <p:sp>
        <p:nvSpPr>
          <p:cNvPr id="21" name="metric-girdi">
            <a:extLst>
              <a:ext uri="{FF2B5EF4-FFF2-40B4-BE49-F238E27FC236}">
                <a16:creationId xmlns:a16="http://schemas.microsoft.com/office/drawing/2014/main" id="{35C948EF-A3EE-41AF-B152-9B01D1D3096B}"/>
              </a:ext>
            </a:extLst>
          </p:cNvPr>
          <p:cNvSpPr>
            <a:spLocks noGrp="1"/>
          </p:cNvSpPr>
          <p:nvPr/>
        </p:nvSpPr>
        <p:spPr>
          <a:xfrm>
            <a:off x="723900" y="37699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2" name="metric-label-Girdi">
            <a:extLst>
              <a:ext uri="{FF2B5EF4-FFF2-40B4-BE49-F238E27FC236}">
                <a16:creationId xmlns:a16="http://schemas.microsoft.com/office/drawing/2014/main" id="{A38ED035-0D98-4444-9F19-09EE748F87C1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Girdi</a:t>
            </a:r>
          </a:p>
        </p:txBody>
      </p:sp>
      <p:sp>
        <p:nvSpPr>
          <p:cNvPr id="23" name="metric-value-Girdi">
            <a:extLst>
              <a:ext uri="{FF2B5EF4-FFF2-40B4-BE49-F238E27FC236}">
                <a16:creationId xmlns:a16="http://schemas.microsoft.com/office/drawing/2014/main" id="{24DA6CED-D6B0-40FB-AB75-30F3944051EF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5B301"/>
                </a:solidFill>
              </a:defRPr>
            </a:pPr>
            <a:r>
              <a:rPr sz="4350" b="1">
                <a:solidFill>
                  <a:srgbClr val="F5B301"/>
                </a:solidFill>
              </a:rPr>
              <a:t>30 sn</a:t>
            </a:r>
          </a:p>
        </p:txBody>
      </p:sp>
      <p:sp>
        <p:nvSpPr>
          <p:cNvPr id="24" name="metric-note-Girdi">
            <a:extLst>
              <a:ext uri="{FF2B5EF4-FFF2-40B4-BE49-F238E27FC236}">
                <a16:creationId xmlns:a16="http://schemas.microsoft.com/office/drawing/2014/main" id="{459510C4-8581-4912-9396-FF32F8DD61E0}"/>
              </a:ext>
            </a:extLst>
          </p:cNvPr>
          <p:cNvSpPr>
            <a:spLocks noGrp="1"/>
          </p:cNvSpPr>
          <p:nvPr/>
        </p:nvSpPr>
        <p:spPr>
          <a:xfrm>
            <a:off x="990600" y="50863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FMA Small parça kesiti</a:t>
            </a:r>
          </a:p>
        </p:txBody>
      </p:sp>
      <p:sp>
        <p:nvSpPr>
          <p:cNvPr id="25" name="metric-özellik">
            <a:extLst>
              <a:ext uri="{FF2B5EF4-FFF2-40B4-BE49-F238E27FC236}">
                <a16:creationId xmlns:a16="http://schemas.microsoft.com/office/drawing/2014/main" id="{D66EFA18-07E2-4B03-A262-EA8B44861B04}"/>
              </a:ext>
            </a:extLst>
          </p:cNvPr>
          <p:cNvSpPr>
            <a:spLocks noGrp="1"/>
          </p:cNvSpPr>
          <p:nvPr/>
        </p:nvSpPr>
        <p:spPr>
          <a:xfrm>
            <a:off x="6413500" y="37699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6" name="metric-label-Özellik">
            <a:extLst>
              <a:ext uri="{FF2B5EF4-FFF2-40B4-BE49-F238E27FC236}">
                <a16:creationId xmlns:a16="http://schemas.microsoft.com/office/drawing/2014/main" id="{5318F43D-8235-4389-913B-856B6D81A891}"/>
              </a:ext>
            </a:extLst>
          </p:cNvPr>
          <p:cNvSpPr>
            <a:spLocks noGrp="1"/>
          </p:cNvSpPr>
          <p:nvPr/>
        </p:nvSpPr>
        <p:spPr>
          <a:xfrm>
            <a:off x="6686550" y="4000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Özellik</a:t>
            </a:r>
          </a:p>
        </p:txBody>
      </p:sp>
      <p:sp>
        <p:nvSpPr>
          <p:cNvPr id="27" name="metric-value-Özellik">
            <a:extLst>
              <a:ext uri="{FF2B5EF4-FFF2-40B4-BE49-F238E27FC236}">
                <a16:creationId xmlns:a16="http://schemas.microsoft.com/office/drawing/2014/main" id="{1CFB1F1A-8896-480C-AA32-D1844C5EEAEC}"/>
              </a:ext>
            </a:extLst>
          </p:cNvPr>
          <p:cNvSpPr>
            <a:spLocks noGrp="1"/>
          </p:cNvSpPr>
          <p:nvPr/>
        </p:nvSpPr>
        <p:spPr>
          <a:xfrm>
            <a:off x="6686550" y="43243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0A6D6"/>
                </a:solidFill>
              </a:defRPr>
            </a:pPr>
            <a:r>
              <a:rPr sz="4350" b="1">
                <a:solidFill>
                  <a:srgbClr val="00A6D6"/>
                </a:solidFill>
              </a:rPr>
              <a:t>128 mel</a:t>
            </a:r>
          </a:p>
        </p:txBody>
      </p:sp>
      <p:sp>
        <p:nvSpPr>
          <p:cNvPr id="28" name="metric-note-Özellik">
            <a:extLst>
              <a:ext uri="{FF2B5EF4-FFF2-40B4-BE49-F238E27FC236}">
                <a16:creationId xmlns:a16="http://schemas.microsoft.com/office/drawing/2014/main" id="{04B26076-9100-4034-9654-3984707D5370}"/>
              </a:ext>
            </a:extLst>
          </p:cNvPr>
          <p:cNvSpPr>
            <a:spLocks noGrp="1"/>
          </p:cNvSpPr>
          <p:nvPr/>
        </p:nvSpPr>
        <p:spPr>
          <a:xfrm>
            <a:off x="6686550" y="50863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n_fft=2048, hop=512</a:t>
            </a:r>
          </a:p>
        </p:txBody>
      </p:sp>
      <p:sp>
        <p:nvSpPr>
          <p:cNvPr id="29" name="metric-çıktı">
            <a:extLst>
              <a:ext uri="{FF2B5EF4-FFF2-40B4-BE49-F238E27FC236}">
                <a16:creationId xmlns:a16="http://schemas.microsoft.com/office/drawing/2014/main" id="{479BECE1-6730-4564-A84E-DF34C303A7CE}"/>
              </a:ext>
            </a:extLst>
          </p:cNvPr>
          <p:cNvSpPr>
            <a:spLocks noGrp="1"/>
          </p:cNvSpPr>
          <p:nvPr/>
        </p:nvSpPr>
        <p:spPr>
          <a:xfrm>
            <a:off x="12103100" y="37699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30" name="metric-label-Çıktı">
            <a:extLst>
              <a:ext uri="{FF2B5EF4-FFF2-40B4-BE49-F238E27FC236}">
                <a16:creationId xmlns:a16="http://schemas.microsoft.com/office/drawing/2014/main" id="{419DFF50-6F20-4FFA-A288-F2090D1F7994}"/>
              </a:ext>
            </a:extLst>
          </p:cNvPr>
          <p:cNvSpPr>
            <a:spLocks noGrp="1"/>
          </p:cNvSpPr>
          <p:nvPr/>
        </p:nvSpPr>
        <p:spPr>
          <a:xfrm>
            <a:off x="12363450" y="4000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Çıktı</a:t>
            </a:r>
          </a:p>
        </p:txBody>
      </p:sp>
      <p:sp>
        <p:nvSpPr>
          <p:cNvPr id="31" name="metric-value-Çıktı">
            <a:extLst>
              <a:ext uri="{FF2B5EF4-FFF2-40B4-BE49-F238E27FC236}">
                <a16:creationId xmlns:a16="http://schemas.microsoft.com/office/drawing/2014/main" id="{E8F750EF-E2E0-4BF7-97A3-DA4B4BDFAF69}"/>
              </a:ext>
            </a:extLst>
          </p:cNvPr>
          <p:cNvSpPr>
            <a:spLocks noGrp="1"/>
          </p:cNvSpPr>
          <p:nvPr/>
        </p:nvSpPr>
        <p:spPr>
          <a:xfrm>
            <a:off x="12363450" y="43243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8A058"/>
                </a:solidFill>
              </a:defRPr>
            </a:pPr>
            <a:r>
              <a:rPr sz="4350" b="1">
                <a:solidFill>
                  <a:srgbClr val="18A058"/>
                </a:solidFill>
              </a:rPr>
              <a:t>8 sınıf</a:t>
            </a:r>
          </a:p>
        </p:txBody>
      </p:sp>
      <p:sp>
        <p:nvSpPr>
          <p:cNvPr id="32" name="metric-note-Çıktı">
            <a:extLst>
              <a:ext uri="{FF2B5EF4-FFF2-40B4-BE49-F238E27FC236}">
                <a16:creationId xmlns:a16="http://schemas.microsoft.com/office/drawing/2014/main" id="{85EBDA43-5C64-4C86-973C-400489107AB9}"/>
              </a:ext>
            </a:extLst>
          </p:cNvPr>
          <p:cNvSpPr>
            <a:spLocks noGrp="1"/>
          </p:cNvSpPr>
          <p:nvPr/>
        </p:nvSpPr>
        <p:spPr>
          <a:xfrm>
            <a:off x="12363450" y="50863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softmax tür dağılımı</a:t>
            </a:r>
          </a:p>
        </p:txBody>
      </p:sp>
      <p:sp>
        <p:nvSpPr>
          <p:cNvPr id="33" name="source-2">
            <a:extLst>
              <a:ext uri="{FF2B5EF4-FFF2-40B4-BE49-F238E27FC236}">
                <a16:creationId xmlns:a16="http://schemas.microsoft.com/office/drawing/2014/main" id="{0C62E104-6E64-4E9C-8763-6F1602585E39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README.md, docs/v2_*.md, ai/config.yaml</a:t>
            </a:r>
          </a:p>
        </p:txBody>
      </p:sp>
      <p:sp>
        <p:nvSpPr>
          <p:cNvPr id="34" name="slide-number-2">
            <a:extLst>
              <a:ext uri="{FF2B5EF4-FFF2-40B4-BE49-F238E27FC236}">
                <a16:creationId xmlns:a16="http://schemas.microsoft.com/office/drawing/2014/main" id="{7265E0AA-4D47-4BA1-BB76-25810326104F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955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-3">
            <a:extLst>
              <a:ext uri="{FF2B5EF4-FFF2-40B4-BE49-F238E27FC236}">
                <a16:creationId xmlns:a16="http://schemas.microsoft.com/office/drawing/2014/main" id="{A856D84E-7AD6-4DC8-A38A-51ADA8A9B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3">
            <a:extLst>
              <a:ext uri="{FF2B5EF4-FFF2-40B4-BE49-F238E27FC236}">
                <a16:creationId xmlns:a16="http://schemas.microsoft.com/office/drawing/2014/main" id="{8761D0F3-54B6-4603-A8FD-4F5032D745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4F46E5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0FEE51C-7B72-4363-8321-A3EC2C1CE838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Veri kümesi ve ön işleme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5EE6B5F-9687-41E9-8769-7CA1EB7020AE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779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FMA Small, dengeli başlangıç noktası veriyor; asıl kaliteyi temsil dönüşümü belirliyor.</a:t>
            </a:r>
          </a:p>
        </p:txBody>
      </p:sp>
      <p:sp>
        <p:nvSpPr>
          <p:cNvPr id="6" name="metric-toplam-veri">
            <a:extLst>
              <a:ext uri="{FF2B5EF4-FFF2-40B4-BE49-F238E27FC236}">
                <a16:creationId xmlns:a16="http://schemas.microsoft.com/office/drawing/2014/main" id="{18F3F0E2-A3F5-4F1D-8593-2311713C9FE3}"/>
              </a:ext>
            </a:extLst>
          </p:cNvPr>
          <p:cNvSpPr>
            <a:spLocks noGrp="1"/>
          </p:cNvSpPr>
          <p:nvPr/>
        </p:nvSpPr>
        <p:spPr>
          <a:xfrm>
            <a:off x="723900" y="1941195"/>
            <a:ext cx="784526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metric-label-Toplam veri">
            <a:extLst>
              <a:ext uri="{FF2B5EF4-FFF2-40B4-BE49-F238E27FC236}">
                <a16:creationId xmlns:a16="http://schemas.microsoft.com/office/drawing/2014/main" id="{F0B75A37-9494-43D8-9F50-7EEEBEDFC9DE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Toplam veri</a:t>
            </a:r>
          </a:p>
        </p:txBody>
      </p:sp>
      <p:sp>
        <p:nvSpPr>
          <p:cNvPr id="8" name="metric-value-Toplam veri">
            <a:extLst>
              <a:ext uri="{FF2B5EF4-FFF2-40B4-BE49-F238E27FC236}">
                <a16:creationId xmlns:a16="http://schemas.microsoft.com/office/drawing/2014/main" id="{C901B801-0D33-4468-A3B7-8F17C53EF8E4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315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8,000</a:t>
            </a:r>
          </a:p>
        </p:txBody>
      </p:sp>
      <p:sp>
        <p:nvSpPr>
          <p:cNvPr id="9" name="metric-note-Toplam veri">
            <a:extLst>
              <a:ext uri="{FF2B5EF4-FFF2-40B4-BE49-F238E27FC236}">
                <a16:creationId xmlns:a16="http://schemas.microsoft.com/office/drawing/2014/main" id="{B7385915-D018-470E-8C60-5ED9C7F67C87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8 tür x 1,000 parça</a:t>
            </a:r>
          </a:p>
        </p:txBody>
      </p:sp>
      <p:sp>
        <p:nvSpPr>
          <p:cNvPr id="10" name="metric-split">
            <a:extLst>
              <a:ext uri="{FF2B5EF4-FFF2-40B4-BE49-F238E27FC236}">
                <a16:creationId xmlns:a16="http://schemas.microsoft.com/office/drawing/2014/main" id="{ECC5677A-B865-4D85-8E06-DFA583EC04B1}"/>
              </a:ext>
            </a:extLst>
          </p:cNvPr>
          <p:cNvSpPr>
            <a:spLocks noGrp="1"/>
          </p:cNvSpPr>
          <p:nvPr/>
        </p:nvSpPr>
        <p:spPr>
          <a:xfrm>
            <a:off x="723900" y="3941445"/>
            <a:ext cx="7845266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metric-label-Split">
            <a:extLst>
              <a:ext uri="{FF2B5EF4-FFF2-40B4-BE49-F238E27FC236}">
                <a16:creationId xmlns:a16="http://schemas.microsoft.com/office/drawing/2014/main" id="{50B56AA2-6A05-48F5-8683-73971F909D8E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Split</a:t>
            </a:r>
          </a:p>
        </p:txBody>
      </p:sp>
      <p:sp>
        <p:nvSpPr>
          <p:cNvPr id="12" name="metric-value-Split">
            <a:extLst>
              <a:ext uri="{FF2B5EF4-FFF2-40B4-BE49-F238E27FC236}">
                <a16:creationId xmlns:a16="http://schemas.microsoft.com/office/drawing/2014/main" id="{A35F34BF-058A-4CC1-B3D7-C4CCFD439494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73152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70/15/15</a:t>
            </a:r>
          </a:p>
        </p:txBody>
      </p:sp>
      <p:sp>
        <p:nvSpPr>
          <p:cNvPr id="13" name="metric-note-Split">
            <a:extLst>
              <a:ext uri="{FF2B5EF4-FFF2-40B4-BE49-F238E27FC236}">
                <a16:creationId xmlns:a16="http://schemas.microsoft.com/office/drawing/2014/main" id="{BBB45574-4846-4D47-A7F7-EF8C5D54CAD9}"/>
              </a:ext>
            </a:extLst>
          </p:cNvPr>
          <p:cNvSpPr>
            <a:spLocks noGrp="1"/>
          </p:cNvSpPr>
          <p:nvPr/>
        </p:nvSpPr>
        <p:spPr>
          <a:xfrm>
            <a:off x="990600" y="525780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train / validation / test</a:t>
            </a:r>
          </a:p>
        </p:txBody>
      </p:sp>
      <p:sp>
        <p:nvSpPr>
          <p:cNvPr id="14" name="dataset-bullets-1">
            <a:extLst>
              <a:ext uri="{FF2B5EF4-FFF2-40B4-BE49-F238E27FC236}">
                <a16:creationId xmlns:a16="http://schemas.microsoft.com/office/drawing/2014/main" id="{EC75CFAA-4521-405F-A477-48ADA79CAB63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7848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101820"/>
                </a:solidFill>
              </a:defRPr>
            </a:pPr>
            <a:r>
              <a:rPr sz="2025">
                <a:solidFill>
                  <a:srgbClr val="101820"/>
                </a:solidFill>
              </a:rPr>
              <a:t>- Eksik veya bozuk ses dosyaları eğitim dışında bırakılıyor.</a:t>
            </a:r>
          </a:p>
        </p:txBody>
      </p:sp>
      <p:sp>
        <p:nvSpPr>
          <p:cNvPr id="15" name="dataset-bullets-2">
            <a:extLst>
              <a:ext uri="{FF2B5EF4-FFF2-40B4-BE49-F238E27FC236}">
                <a16:creationId xmlns:a16="http://schemas.microsoft.com/office/drawing/2014/main" id="{B3C254FB-A2CC-4058-A5DD-75BEEDFB53B5}"/>
              </a:ext>
            </a:extLst>
          </p:cNvPr>
          <p:cNvSpPr>
            <a:spLocks noGrp="1"/>
          </p:cNvSpPr>
          <p:nvPr/>
        </p:nvSpPr>
        <p:spPr>
          <a:xfrm>
            <a:off x="723900" y="6400800"/>
            <a:ext cx="7848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101820"/>
                </a:solidFill>
              </a:defRPr>
            </a:pPr>
            <a:r>
              <a:rPr sz="2025">
                <a:solidFill>
                  <a:srgbClr val="101820"/>
                </a:solidFill>
              </a:rPr>
              <a:t>- Sinyal sabit süreye kırpılıyor ya da pad ediliyor.</a:t>
            </a:r>
          </a:p>
        </p:txBody>
      </p:sp>
      <p:sp>
        <p:nvSpPr>
          <p:cNvPr id="16" name="dataset-bullets-3">
            <a:extLst>
              <a:ext uri="{FF2B5EF4-FFF2-40B4-BE49-F238E27FC236}">
                <a16:creationId xmlns:a16="http://schemas.microsoft.com/office/drawing/2014/main" id="{523B5D20-914D-4576-A649-7898E5566CF7}"/>
              </a:ext>
            </a:extLst>
          </p:cNvPr>
          <p:cNvSpPr>
            <a:spLocks noGrp="1"/>
          </p:cNvSpPr>
          <p:nvPr/>
        </p:nvSpPr>
        <p:spPr>
          <a:xfrm>
            <a:off x="723900" y="6858000"/>
            <a:ext cx="7848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101820"/>
                </a:solidFill>
              </a:defRPr>
            </a:pPr>
            <a:r>
              <a:rPr sz="2025">
                <a:solidFill>
                  <a:srgbClr val="101820"/>
                </a:solidFill>
              </a:rPr>
              <a:t>- Log-mel spektrogramı normalize edilip CNN tensörüne çevriliyor.</a:t>
            </a:r>
          </a:p>
        </p:txBody>
      </p:sp>
      <p:sp>
        <p:nvSpPr>
          <p:cNvPr id="17" name="mel-panel">
            <a:extLst>
              <a:ext uri="{FF2B5EF4-FFF2-40B4-BE49-F238E27FC236}">
                <a16:creationId xmlns:a16="http://schemas.microsoft.com/office/drawing/2014/main" id="{755BF82F-7C1C-45E2-A910-8DF6596A6931}"/>
              </a:ext>
            </a:extLst>
          </p:cNvPr>
          <p:cNvSpPr>
            <a:spLocks noGrp="1"/>
          </p:cNvSpPr>
          <p:nvPr/>
        </p:nvSpPr>
        <p:spPr>
          <a:xfrm>
            <a:off x="8893016" y="1941195"/>
            <a:ext cx="8671084" cy="7362825"/>
          </a:xfrm>
          <a:prstGeom prst="roundRect">
            <a:avLst>
              <a:gd name="adj" fmla="val 1035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pic>
        <p:nvPicPr>
          <p:cNvPr id="18" name="mel-samples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64466" y="3852425"/>
            <a:ext cx="8328184" cy="3231754"/>
          </a:xfrm>
          <a:prstGeom prst="rect">
            <a:avLst/>
          </a:prstGeom>
        </p:spPr>
      </p:pic>
      <p:sp>
        <p:nvSpPr>
          <p:cNvPr id="19" name="mel-caption">
            <a:extLst>
              <a:ext uri="{FF2B5EF4-FFF2-40B4-BE49-F238E27FC236}">
                <a16:creationId xmlns:a16="http://schemas.microsoft.com/office/drawing/2014/main" id="{665AD98D-0CE4-40B9-B58C-701BF724FB94}"/>
              </a:ext>
            </a:extLst>
          </p:cNvPr>
          <p:cNvSpPr>
            <a:spLocks noGrp="1"/>
          </p:cNvSpPr>
          <p:nvPr/>
        </p:nvSpPr>
        <p:spPr>
          <a:xfrm>
            <a:off x="9067800" y="8934450"/>
            <a:ext cx="8324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3616E"/>
                </a:solidFill>
              </a:defRPr>
            </a:pPr>
            <a:r>
              <a:rPr sz="1275">
                <a:solidFill>
                  <a:srgbClr val="53616E"/>
                </a:solidFill>
              </a:rPr>
              <a:t>Repo görseli: türlere göre örnek mel-spektrogramlar.</a:t>
            </a:r>
          </a:p>
        </p:txBody>
      </p:sp>
      <p:sp>
        <p:nvSpPr>
          <p:cNvPr id="20" name="source-3">
            <a:extLst>
              <a:ext uri="{FF2B5EF4-FFF2-40B4-BE49-F238E27FC236}">
                <a16:creationId xmlns:a16="http://schemas.microsoft.com/office/drawing/2014/main" id="{816E3FF7-8A94-47BD-872A-ED9FA56DCA3F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README.md, ai/config.yaml</a:t>
            </a:r>
          </a:p>
        </p:txBody>
      </p:sp>
      <p:sp>
        <p:nvSpPr>
          <p:cNvPr id="21" name="slide-number-3">
            <a:extLst>
              <a:ext uri="{FF2B5EF4-FFF2-40B4-BE49-F238E27FC236}">
                <a16:creationId xmlns:a16="http://schemas.microsoft.com/office/drawing/2014/main" id="{3C7A5B2F-7F6F-43F4-B5D1-D10905E45E4F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526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-4">
            <a:extLst>
              <a:ext uri="{FF2B5EF4-FFF2-40B4-BE49-F238E27FC236}">
                <a16:creationId xmlns:a16="http://schemas.microsoft.com/office/drawing/2014/main" id="{51F89A34-F7D2-4356-B8B5-8E4AFAEFC2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4">
            <a:extLst>
              <a:ext uri="{FF2B5EF4-FFF2-40B4-BE49-F238E27FC236}">
                <a16:creationId xmlns:a16="http://schemas.microsoft.com/office/drawing/2014/main" id="{6983ABBB-397D-40CB-9D7B-6498CCB796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18A058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E48EE36A-0FA3-403A-9D13-CDE77C41A02A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Sistem mimarisi: eğitim hattı + çalışan demo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6CDFD7D-23A5-444E-AE5E-C97AC0FDB19D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8267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Güncel yapı yalnızca modelden oluşmuyor; veri, ağırlık, API ve web arayüzü birlikte akıyor.</a:t>
            </a:r>
          </a:p>
        </p:txBody>
      </p:sp>
      <p:sp>
        <p:nvSpPr>
          <p:cNvPr id="5" name="title-rule-4">
            <a:extLst>
              <a:ext uri="{FF2B5EF4-FFF2-40B4-BE49-F238E27FC236}">
                <a16:creationId xmlns:a16="http://schemas.microsoft.com/office/drawing/2014/main" id="{A9978B15-58CD-4A52-8A2B-5D6AABB27EBB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619250" cy="47625"/>
          </a:xfrm>
          <a:prstGeom prst="rect">
            <a:avLst/>
          </a:prstGeom>
          <a:solidFill>
            <a:srgbClr val="18A058"/>
          </a:solidFill>
          <a:ln w="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0C9C10B-7948-401F-B966-360279C058DA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50673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Bulut veri katmanı</a:t>
            </a:r>
          </a:p>
        </p:txBody>
      </p:sp>
      <p:sp>
        <p:nvSpPr>
          <p:cNvPr id="7" name="sys-data-list-1">
            <a:extLst>
              <a:ext uri="{FF2B5EF4-FFF2-40B4-BE49-F238E27FC236}">
                <a16:creationId xmlns:a16="http://schemas.microsoft.com/office/drawing/2014/main" id="{D883901E-1DCB-4A6D-944E-0807B68C31B6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Google Drive altında data/ ve models/</a:t>
            </a:r>
          </a:p>
        </p:txBody>
      </p:sp>
      <p:sp>
        <p:nvSpPr>
          <p:cNvPr id="8" name="sys-data-list-2">
            <a:extLst>
              <a:ext uri="{FF2B5EF4-FFF2-40B4-BE49-F238E27FC236}">
                <a16:creationId xmlns:a16="http://schemas.microsoft.com/office/drawing/2014/main" id="{D84C126B-F477-4B15-87EB-E9B39C56C452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Windows junction ile repo içinden erişim</a:t>
            </a:r>
          </a:p>
        </p:txBody>
      </p:sp>
      <p:sp>
        <p:nvSpPr>
          <p:cNvPr id="9" name="sys-data-list-3">
            <a:extLst>
              <a:ext uri="{FF2B5EF4-FFF2-40B4-BE49-F238E27FC236}">
                <a16:creationId xmlns:a16="http://schemas.microsoft.com/office/drawing/2014/main" id="{79F5D927-6469-4F1C-A1E8-D25F1F6184A3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Büyük dosyalar Git dışında tutuluyor</a:t>
            </a:r>
          </a:p>
        </p:txBody>
      </p:sp>
      <p:sp>
        <p:nvSpPr>
          <p:cNvPr id="10" name="sys-arrow-1">
            <a:extLst>
              <a:ext uri="{FF2B5EF4-FFF2-40B4-BE49-F238E27FC236}">
                <a16:creationId xmlns:a16="http://schemas.microsoft.com/office/drawing/2014/main" id="{ED714047-6F0B-422B-966E-F7477ECEA5E1}"/>
              </a:ext>
            </a:extLst>
          </p:cNvPr>
          <p:cNvSpPr>
            <a:spLocks noGrp="1"/>
          </p:cNvSpPr>
          <p:nvPr/>
        </p:nvSpPr>
        <p:spPr>
          <a:xfrm>
            <a:off x="5943600" y="2209800"/>
            <a:ext cx="514350" cy="7105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4F46E5"/>
                </a:solidFill>
              </a:defRPr>
            </a:pPr>
            <a:r>
              <a:rPr sz="2700" b="1">
                <a:solidFill>
                  <a:srgbClr val="4F46E5"/>
                </a:solidFill>
              </a:rPr>
              <a:t>-&gt;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E61573A7-C6D2-46A4-91E5-08A75CF51530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50673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5A5F"/>
                </a:solidFill>
              </a:defRPr>
            </a:pPr>
            <a:r>
              <a:rPr sz="2550" b="1">
                <a:solidFill>
                  <a:srgbClr val="FF5A5F"/>
                </a:solidFill>
              </a:rPr>
              <a:t>AI paketi</a:t>
            </a:r>
          </a:p>
        </p:txBody>
      </p:sp>
      <p:sp>
        <p:nvSpPr>
          <p:cNvPr id="12" name="sys-ai-list-1">
            <a:extLst>
              <a:ext uri="{FF2B5EF4-FFF2-40B4-BE49-F238E27FC236}">
                <a16:creationId xmlns:a16="http://schemas.microsoft.com/office/drawing/2014/main" id="{655611C2-71E5-4755-9826-394D5B0FF225}"/>
              </a:ext>
            </a:extLst>
          </p:cNvPr>
          <p:cNvSpPr>
            <a:spLocks noGrp="1"/>
          </p:cNvSpPr>
          <p:nvPr/>
        </p:nvSpPr>
        <p:spPr>
          <a:xfrm>
            <a:off x="6610350" y="27813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ai/src/train.py ile eğitim</a:t>
            </a:r>
          </a:p>
        </p:txBody>
      </p:sp>
      <p:sp>
        <p:nvSpPr>
          <p:cNvPr id="13" name="sys-ai-list-2">
            <a:extLst>
              <a:ext uri="{FF2B5EF4-FFF2-40B4-BE49-F238E27FC236}">
                <a16:creationId xmlns:a16="http://schemas.microsoft.com/office/drawing/2014/main" id="{D6089BC4-2EBD-4409-95D9-98DAA42336E4}"/>
              </a:ext>
            </a:extLst>
          </p:cNvPr>
          <p:cNvSpPr>
            <a:spLocks noGrp="1"/>
          </p:cNvSpPr>
          <p:nvPr/>
        </p:nvSpPr>
        <p:spPr>
          <a:xfrm>
            <a:off x="6610350" y="321945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evaluate.py ile raporlama</a:t>
            </a:r>
          </a:p>
        </p:txBody>
      </p:sp>
      <p:sp>
        <p:nvSpPr>
          <p:cNvPr id="14" name="sys-ai-list-3">
            <a:extLst>
              <a:ext uri="{FF2B5EF4-FFF2-40B4-BE49-F238E27FC236}">
                <a16:creationId xmlns:a16="http://schemas.microsoft.com/office/drawing/2014/main" id="{4ADAA551-C3B4-46C5-9FA7-83CF37EC9D63}"/>
              </a:ext>
            </a:extLst>
          </p:cNvPr>
          <p:cNvSpPr>
            <a:spLocks noGrp="1"/>
          </p:cNvSpPr>
          <p:nvPr/>
        </p:nvSpPr>
        <p:spPr>
          <a:xfrm>
            <a:off x="6610350" y="36576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best_model_v2.pth checkpoint</a:t>
            </a:r>
          </a:p>
        </p:txBody>
      </p:sp>
      <p:sp>
        <p:nvSpPr>
          <p:cNvPr id="15" name="sys-arrow-2">
            <a:extLst>
              <a:ext uri="{FF2B5EF4-FFF2-40B4-BE49-F238E27FC236}">
                <a16:creationId xmlns:a16="http://schemas.microsoft.com/office/drawing/2014/main" id="{4B41C2D0-C69D-416A-A4DA-F2CF1EBDD638}"/>
              </a:ext>
            </a:extLst>
          </p:cNvPr>
          <p:cNvSpPr>
            <a:spLocks noGrp="1"/>
          </p:cNvSpPr>
          <p:nvPr/>
        </p:nvSpPr>
        <p:spPr>
          <a:xfrm>
            <a:off x="11830050" y="2209800"/>
            <a:ext cx="514350" cy="7105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F5A5F"/>
                </a:solidFill>
              </a:defRPr>
            </a:pPr>
            <a:r>
              <a:rPr sz="2700" b="1">
                <a:solidFill>
                  <a:srgbClr val="FF5A5F"/>
                </a:solidFill>
              </a:rPr>
              <a:t>-&gt;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4D5670B-85EE-4D68-91FD-E6B6182CE438}"/>
              </a:ext>
            </a:extLst>
          </p:cNvPr>
          <p:cNvSpPr>
            <a:spLocks noGrp="1"/>
          </p:cNvSpPr>
          <p:nvPr/>
        </p:nvSpPr>
        <p:spPr>
          <a:xfrm>
            <a:off x="12496800" y="2209800"/>
            <a:ext cx="50673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8A058"/>
                </a:solidFill>
              </a:defRPr>
            </a:pPr>
            <a:r>
              <a:rPr sz="2550" b="1">
                <a:solidFill>
                  <a:srgbClr val="18A058"/>
                </a:solidFill>
              </a:rPr>
              <a:t>Demo yüzeyi</a:t>
            </a:r>
          </a:p>
        </p:txBody>
      </p:sp>
      <p:sp>
        <p:nvSpPr>
          <p:cNvPr id="17" name="sys-product-list-1">
            <a:extLst>
              <a:ext uri="{FF2B5EF4-FFF2-40B4-BE49-F238E27FC236}">
                <a16:creationId xmlns:a16="http://schemas.microsoft.com/office/drawing/2014/main" id="{B0927753-A641-4B52-85EE-7BB4EF923BDB}"/>
              </a:ext>
            </a:extLst>
          </p:cNvPr>
          <p:cNvSpPr>
            <a:spLocks noGrp="1"/>
          </p:cNvSpPr>
          <p:nvPr/>
        </p:nvSpPr>
        <p:spPr>
          <a:xfrm>
            <a:off x="12496800" y="27813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FastAPI /predict uç noktası</a:t>
            </a:r>
          </a:p>
        </p:txBody>
      </p:sp>
      <p:sp>
        <p:nvSpPr>
          <p:cNvPr id="18" name="sys-product-list-2">
            <a:extLst>
              <a:ext uri="{FF2B5EF4-FFF2-40B4-BE49-F238E27FC236}">
                <a16:creationId xmlns:a16="http://schemas.microsoft.com/office/drawing/2014/main" id="{FE149B9D-5C5E-4136-89D7-8BB830BA91D1}"/>
              </a:ext>
            </a:extLst>
          </p:cNvPr>
          <p:cNvSpPr>
            <a:spLocks noGrp="1"/>
          </p:cNvSpPr>
          <p:nvPr/>
        </p:nvSpPr>
        <p:spPr>
          <a:xfrm>
            <a:off x="12496800" y="321945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Next.js dosya yükleme arayüzü</a:t>
            </a:r>
          </a:p>
        </p:txBody>
      </p:sp>
      <p:sp>
        <p:nvSpPr>
          <p:cNvPr id="19" name="sys-product-list-3">
            <a:extLst>
              <a:ext uri="{FF2B5EF4-FFF2-40B4-BE49-F238E27FC236}">
                <a16:creationId xmlns:a16="http://schemas.microsoft.com/office/drawing/2014/main" id="{39BE442E-0788-41FB-BB27-EC4C13725804}"/>
              </a:ext>
            </a:extLst>
          </p:cNvPr>
          <p:cNvSpPr>
            <a:spLocks noGrp="1"/>
          </p:cNvSpPr>
          <p:nvPr/>
        </p:nvSpPr>
        <p:spPr>
          <a:xfrm>
            <a:off x="12496800" y="3657600"/>
            <a:ext cx="5067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- Model yoksa mock fallback</a:t>
            </a:r>
          </a:p>
        </p:txBody>
      </p:sp>
      <p:sp>
        <p:nvSpPr>
          <p:cNvPr id="20" name="source-4">
            <a:extLst>
              <a:ext uri="{FF2B5EF4-FFF2-40B4-BE49-F238E27FC236}">
                <a16:creationId xmlns:a16="http://schemas.microsoft.com/office/drawing/2014/main" id="{FFF06FD7-0285-48BB-9977-A6F90C317607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docs/v2_architecture.md, backend/main.py, web/src/app/page.tsx</a:t>
            </a:r>
          </a:p>
        </p:txBody>
      </p:sp>
      <p:sp>
        <p:nvSpPr>
          <p:cNvPr id="21" name="slide-number-4">
            <a:extLst>
              <a:ext uri="{FF2B5EF4-FFF2-40B4-BE49-F238E27FC236}">
                <a16:creationId xmlns:a16="http://schemas.microsoft.com/office/drawing/2014/main" id="{71307438-E3F5-4F17-81C3-121F2AD24778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244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-5">
            <a:extLst>
              <a:ext uri="{FF2B5EF4-FFF2-40B4-BE49-F238E27FC236}">
                <a16:creationId xmlns:a16="http://schemas.microsoft.com/office/drawing/2014/main" id="{CCF2B8B3-D2F9-44B9-90F7-700D2DCEC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5">
            <a:extLst>
              <a:ext uri="{FF2B5EF4-FFF2-40B4-BE49-F238E27FC236}">
                <a16:creationId xmlns:a16="http://schemas.microsoft.com/office/drawing/2014/main" id="{A5774C6E-D05D-4F6D-93FB-C49344D727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504D3C3-2F15-4823-A71D-A8F1C35048B5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GenreCNN V2: residual blok + SE attention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C00B313-8E36-447B-B1AD-E86443D6E0CD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9201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V2, daha derin özellik çıkarımı yaparken kanal önemini öğrenen hafif bir dikkat mekanizması ekliyor.</a:t>
            </a:r>
          </a:p>
        </p:txBody>
      </p:sp>
      <p:sp>
        <p:nvSpPr>
          <p:cNvPr id="5" name="title-rule-5">
            <a:extLst>
              <a:ext uri="{FF2B5EF4-FFF2-40B4-BE49-F238E27FC236}">
                <a16:creationId xmlns:a16="http://schemas.microsoft.com/office/drawing/2014/main" id="{3B2BC02D-14C5-44BF-83A8-AE1985504E4A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619250" cy="47625"/>
          </a:xfrm>
          <a:prstGeom prst="rect">
            <a:avLst/>
          </a:prstGeom>
          <a:solidFill>
            <a:srgbClr val="FF5A5F"/>
          </a:solidFill>
          <a:ln w="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flow-input">
            <a:extLst>
              <a:ext uri="{FF2B5EF4-FFF2-40B4-BE49-F238E27FC236}">
                <a16:creationId xmlns:a16="http://schemas.microsoft.com/office/drawing/2014/main" id="{73AB819E-48E5-403F-907E-3E592E910113}"/>
              </a:ext>
            </a:extLst>
          </p:cNvPr>
          <p:cNvSpPr>
            <a:spLocks noGrp="1"/>
          </p:cNvSpPr>
          <p:nvPr/>
        </p:nvSpPr>
        <p:spPr>
          <a:xfrm>
            <a:off x="723900" y="22155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FFF8D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3102147-CA67-48FB-BEF0-5176F05D4888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Input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899372D-AF01-48B8-B564-E23E5FE91CCE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1 x 128 x 1292</a:t>
            </a:r>
          </a:p>
        </p:txBody>
      </p:sp>
      <p:sp>
        <p:nvSpPr>
          <p:cNvPr id="9" name="m-arrow-1">
            <a:extLst>
              <a:ext uri="{FF2B5EF4-FFF2-40B4-BE49-F238E27FC236}">
                <a16:creationId xmlns:a16="http://schemas.microsoft.com/office/drawing/2014/main" id="{BD6F88DB-FE62-469F-BB54-A388F4A97AA1}"/>
              </a:ext>
            </a:extLst>
          </p:cNvPr>
          <p:cNvSpPr>
            <a:spLocks noGrp="1"/>
          </p:cNvSpPr>
          <p:nvPr/>
        </p:nvSpPr>
        <p:spPr>
          <a:xfrm>
            <a:off x="5200650" y="22098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5B301"/>
                </a:solidFill>
              </a:defRPr>
            </a:pPr>
            <a:r>
              <a:rPr sz="2700" b="1">
                <a:solidFill>
                  <a:srgbClr val="F5B301"/>
                </a:solidFill>
              </a:rPr>
              <a:t>-&gt;</a:t>
            </a:r>
          </a:p>
        </p:txBody>
      </p:sp>
      <p:sp>
        <p:nvSpPr>
          <p:cNvPr id="10" name="flow-resconv-32">
            <a:extLst>
              <a:ext uri="{FF2B5EF4-FFF2-40B4-BE49-F238E27FC236}">
                <a16:creationId xmlns:a16="http://schemas.microsoft.com/office/drawing/2014/main" id="{796E423A-7E55-42F2-A1C9-2BBFDDC82F2D}"/>
              </a:ext>
            </a:extLst>
          </p:cNvPr>
          <p:cNvSpPr>
            <a:spLocks noGrp="1"/>
          </p:cNvSpPr>
          <p:nvPr/>
        </p:nvSpPr>
        <p:spPr>
          <a:xfrm>
            <a:off x="5865495" y="22155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AA8C279-00EA-40C4-805F-7D8346C99D4B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32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8F7F9376-FDDA-44EB-8D31-9236A0D77592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Conv + BN + ReLU + SE</a:t>
            </a:r>
          </a:p>
        </p:txBody>
      </p:sp>
      <p:sp>
        <p:nvSpPr>
          <p:cNvPr id="13" name="flow-resconv-64">
            <a:extLst>
              <a:ext uri="{FF2B5EF4-FFF2-40B4-BE49-F238E27FC236}">
                <a16:creationId xmlns:a16="http://schemas.microsoft.com/office/drawing/2014/main" id="{76C8A2C9-F939-45F3-A2B2-7DE7085C1DBE}"/>
              </a:ext>
            </a:extLst>
          </p:cNvPr>
          <p:cNvSpPr>
            <a:spLocks noGrp="1"/>
          </p:cNvSpPr>
          <p:nvPr/>
        </p:nvSpPr>
        <p:spPr>
          <a:xfrm>
            <a:off x="723900" y="38538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8D7B3430-8599-4FD3-A250-4D7040F2AB03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64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D76973AB-2F86-4236-8A65-C5842023BE95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shortcut bağlantısı</a:t>
            </a:r>
          </a:p>
        </p:txBody>
      </p:sp>
      <p:sp>
        <p:nvSpPr>
          <p:cNvPr id="16" name="m-arrow-2">
            <a:extLst>
              <a:ext uri="{FF2B5EF4-FFF2-40B4-BE49-F238E27FC236}">
                <a16:creationId xmlns:a16="http://schemas.microsoft.com/office/drawing/2014/main" id="{CAC59151-57AE-4D6C-8135-9FFD73AD7483}"/>
              </a:ext>
            </a:extLst>
          </p:cNvPr>
          <p:cNvSpPr>
            <a:spLocks noGrp="1"/>
          </p:cNvSpPr>
          <p:nvPr/>
        </p:nvSpPr>
        <p:spPr>
          <a:xfrm>
            <a:off x="5200650" y="38481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0A6D6"/>
                </a:solidFill>
              </a:defRPr>
            </a:pPr>
            <a:r>
              <a:rPr sz="2700" b="1">
                <a:solidFill>
                  <a:srgbClr val="00A6D6"/>
                </a:solidFill>
              </a:rPr>
              <a:t>-&gt;</a:t>
            </a:r>
          </a:p>
        </p:txBody>
      </p:sp>
      <p:sp>
        <p:nvSpPr>
          <p:cNvPr id="17" name="flow-resconv-128">
            <a:extLst>
              <a:ext uri="{FF2B5EF4-FFF2-40B4-BE49-F238E27FC236}">
                <a16:creationId xmlns:a16="http://schemas.microsoft.com/office/drawing/2014/main" id="{09A7B97F-BF92-4489-9513-18364C24BF26}"/>
              </a:ext>
            </a:extLst>
          </p:cNvPr>
          <p:cNvSpPr>
            <a:spLocks noGrp="1"/>
          </p:cNvSpPr>
          <p:nvPr/>
        </p:nvSpPr>
        <p:spPr>
          <a:xfrm>
            <a:off x="5865495" y="38538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19767128-F485-4001-A292-B2A7DF1CEA9B}"/>
              </a:ext>
            </a:extLst>
          </p:cNvPr>
          <p:cNvSpPr>
            <a:spLocks noGrp="1"/>
          </p:cNvSpPr>
          <p:nvPr/>
        </p:nvSpPr>
        <p:spPr>
          <a:xfrm>
            <a:off x="6096000" y="40386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128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82668F18-8D86-4DD0-A930-795FEEA87E06}"/>
              </a:ext>
            </a:extLst>
          </p:cNvPr>
          <p:cNvSpPr>
            <a:spLocks noGrp="1"/>
          </p:cNvSpPr>
          <p:nvPr/>
        </p:nvSpPr>
        <p:spPr>
          <a:xfrm>
            <a:off x="6096000" y="44386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dropout ile düzenleme</a:t>
            </a:r>
          </a:p>
        </p:txBody>
      </p:sp>
      <p:sp>
        <p:nvSpPr>
          <p:cNvPr id="20" name="flow-resconv-256">
            <a:extLst>
              <a:ext uri="{FF2B5EF4-FFF2-40B4-BE49-F238E27FC236}">
                <a16:creationId xmlns:a16="http://schemas.microsoft.com/office/drawing/2014/main" id="{C16361A9-109B-410D-BE71-A7A236094CD8}"/>
              </a:ext>
            </a:extLst>
          </p:cNvPr>
          <p:cNvSpPr>
            <a:spLocks noGrp="1"/>
          </p:cNvSpPr>
          <p:nvPr/>
        </p:nvSpPr>
        <p:spPr>
          <a:xfrm>
            <a:off x="723900" y="54921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F1FACA19-DAFE-4A77-8E36-7DA35829B292}"/>
              </a:ext>
            </a:extLst>
          </p:cNvPr>
          <p:cNvSpPr>
            <a:spLocks noGrp="1"/>
          </p:cNvSpPr>
          <p:nvPr/>
        </p:nvSpPr>
        <p:spPr>
          <a:xfrm>
            <a:off x="952500" y="56769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ResConv 256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C7A0AAE-C0A6-4B79-91C7-15A433A3C41D}"/>
              </a:ext>
            </a:extLst>
          </p:cNvPr>
          <p:cNvSpPr>
            <a:spLocks noGrp="1"/>
          </p:cNvSpPr>
          <p:nvPr/>
        </p:nvSpPr>
        <p:spPr>
          <a:xfrm>
            <a:off x="952500" y="60769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kanal temsili genişler</a:t>
            </a:r>
          </a:p>
        </p:txBody>
      </p:sp>
      <p:sp>
        <p:nvSpPr>
          <p:cNvPr id="23" name="m-arrow-3">
            <a:extLst>
              <a:ext uri="{FF2B5EF4-FFF2-40B4-BE49-F238E27FC236}">
                <a16:creationId xmlns:a16="http://schemas.microsoft.com/office/drawing/2014/main" id="{049F02B8-6021-4141-B8F0-F86712672972}"/>
              </a:ext>
            </a:extLst>
          </p:cNvPr>
          <p:cNvSpPr>
            <a:spLocks noGrp="1"/>
          </p:cNvSpPr>
          <p:nvPr/>
        </p:nvSpPr>
        <p:spPr>
          <a:xfrm>
            <a:off x="5200650" y="54864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8A058"/>
                </a:solidFill>
              </a:defRPr>
            </a:pPr>
            <a:r>
              <a:rPr sz="2700" b="1">
                <a:solidFill>
                  <a:srgbClr val="18A058"/>
                </a:solidFill>
              </a:rPr>
              <a:t>-&gt;</a:t>
            </a:r>
          </a:p>
        </p:txBody>
      </p:sp>
      <p:sp>
        <p:nvSpPr>
          <p:cNvPr id="24" name="flow-gap-+-fc">
            <a:extLst>
              <a:ext uri="{FF2B5EF4-FFF2-40B4-BE49-F238E27FC236}">
                <a16:creationId xmlns:a16="http://schemas.microsoft.com/office/drawing/2014/main" id="{B354F6EF-83B1-42CB-932D-E1974A1029C2}"/>
              </a:ext>
            </a:extLst>
          </p:cNvPr>
          <p:cNvSpPr>
            <a:spLocks noGrp="1"/>
          </p:cNvSpPr>
          <p:nvPr/>
        </p:nvSpPr>
        <p:spPr>
          <a:xfrm>
            <a:off x="5865495" y="5492115"/>
            <a:ext cx="4322445" cy="1428750"/>
          </a:xfrm>
          <a:prstGeom prst="roundRect">
            <a:avLst>
              <a:gd name="adj" fmla="val 5333"/>
            </a:avLst>
          </a:prstGeom>
          <a:solidFill>
            <a:srgbClr val="FFF0F0"/>
          </a:solidFill>
        </p:spPr>
        <p:txBody>
          <a:bodyPr/>
          <a:lstStyle/>
          <a:p>
            <a:endParaRPr lang="tr-TR"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C4BEB6E-38CA-4719-9DE3-1A5E0A7DF20C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3867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GAP + FC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1F728078-35F8-4059-800F-4D654E7E07C0}"/>
              </a:ext>
            </a:extLst>
          </p:cNvPr>
          <p:cNvSpPr>
            <a:spLocks noGrp="1"/>
          </p:cNvSpPr>
          <p:nvPr/>
        </p:nvSpPr>
        <p:spPr>
          <a:xfrm>
            <a:off x="6096000" y="607695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256 -&gt; 128 -&gt; 8</a:t>
            </a:r>
          </a:p>
        </p:txBody>
      </p:sp>
      <p:sp>
        <p:nvSpPr>
          <p:cNvPr id="27" name="metric-blok-sayısı">
            <a:extLst>
              <a:ext uri="{FF2B5EF4-FFF2-40B4-BE49-F238E27FC236}">
                <a16:creationId xmlns:a16="http://schemas.microsoft.com/office/drawing/2014/main" id="{013ECABD-3960-4A88-BA96-138CF0B76665}"/>
              </a:ext>
            </a:extLst>
          </p:cNvPr>
          <p:cNvSpPr>
            <a:spLocks noGrp="1"/>
          </p:cNvSpPr>
          <p:nvPr/>
        </p:nvSpPr>
        <p:spPr>
          <a:xfrm>
            <a:off x="10568940" y="2215515"/>
            <a:ext cx="699516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8" name="metric-label-Blok sayısı">
            <a:extLst>
              <a:ext uri="{FF2B5EF4-FFF2-40B4-BE49-F238E27FC236}">
                <a16:creationId xmlns:a16="http://schemas.microsoft.com/office/drawing/2014/main" id="{A20C77FD-E886-4A8E-8C86-AF02E7C994E0}"/>
              </a:ext>
            </a:extLst>
          </p:cNvPr>
          <p:cNvSpPr>
            <a:spLocks noGrp="1"/>
          </p:cNvSpPr>
          <p:nvPr/>
        </p:nvSpPr>
        <p:spPr>
          <a:xfrm>
            <a:off x="10839450" y="243840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Blok sayısı</a:t>
            </a:r>
          </a:p>
        </p:txBody>
      </p:sp>
      <p:sp>
        <p:nvSpPr>
          <p:cNvPr id="29" name="metric-value-Blok sayısı">
            <a:extLst>
              <a:ext uri="{FF2B5EF4-FFF2-40B4-BE49-F238E27FC236}">
                <a16:creationId xmlns:a16="http://schemas.microsoft.com/office/drawing/2014/main" id="{7ACA5754-0EA7-41DF-A4A8-F976C42395BD}"/>
              </a:ext>
            </a:extLst>
          </p:cNvPr>
          <p:cNvSpPr>
            <a:spLocks noGrp="1"/>
          </p:cNvSpPr>
          <p:nvPr/>
        </p:nvSpPr>
        <p:spPr>
          <a:xfrm>
            <a:off x="10839450" y="2762250"/>
            <a:ext cx="6457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0A6D6"/>
                </a:solidFill>
              </a:defRPr>
            </a:pPr>
            <a:r>
              <a:rPr sz="4350" b="1">
                <a:solidFill>
                  <a:srgbClr val="00A6D6"/>
                </a:solidFill>
              </a:rPr>
              <a:t>4</a:t>
            </a:r>
          </a:p>
        </p:txBody>
      </p:sp>
      <p:sp>
        <p:nvSpPr>
          <p:cNvPr id="30" name="metric-note-Blok sayısı">
            <a:extLst>
              <a:ext uri="{FF2B5EF4-FFF2-40B4-BE49-F238E27FC236}">
                <a16:creationId xmlns:a16="http://schemas.microsoft.com/office/drawing/2014/main" id="{48C59E81-C0C2-4BB2-94E7-31B13082510F}"/>
              </a:ext>
            </a:extLst>
          </p:cNvPr>
          <p:cNvSpPr>
            <a:spLocks noGrp="1"/>
          </p:cNvSpPr>
          <p:nvPr/>
        </p:nvSpPr>
        <p:spPr>
          <a:xfrm>
            <a:off x="10839450" y="352425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32 -&gt; 64 -&gt; 128 -&gt; 256</a:t>
            </a:r>
          </a:p>
        </p:txBody>
      </p:sp>
      <p:sp>
        <p:nvSpPr>
          <p:cNvPr id="31" name="metric-dikkat">
            <a:extLst>
              <a:ext uri="{FF2B5EF4-FFF2-40B4-BE49-F238E27FC236}">
                <a16:creationId xmlns:a16="http://schemas.microsoft.com/office/drawing/2014/main" id="{C8706B85-8E70-4CC4-B1AC-8B83A66E5DD9}"/>
              </a:ext>
            </a:extLst>
          </p:cNvPr>
          <p:cNvSpPr>
            <a:spLocks noGrp="1"/>
          </p:cNvSpPr>
          <p:nvPr/>
        </p:nvSpPr>
        <p:spPr>
          <a:xfrm>
            <a:off x="10568940" y="4253865"/>
            <a:ext cx="699516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32" name="metric-label-Dikkat">
            <a:extLst>
              <a:ext uri="{FF2B5EF4-FFF2-40B4-BE49-F238E27FC236}">
                <a16:creationId xmlns:a16="http://schemas.microsoft.com/office/drawing/2014/main" id="{9338C8A7-81AC-4C37-AEE2-CC2A764840F4}"/>
              </a:ext>
            </a:extLst>
          </p:cNvPr>
          <p:cNvSpPr>
            <a:spLocks noGrp="1"/>
          </p:cNvSpPr>
          <p:nvPr/>
        </p:nvSpPr>
        <p:spPr>
          <a:xfrm>
            <a:off x="10839450" y="447675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Dikkat</a:t>
            </a:r>
          </a:p>
        </p:txBody>
      </p:sp>
      <p:sp>
        <p:nvSpPr>
          <p:cNvPr id="33" name="metric-value-Dikkat">
            <a:extLst>
              <a:ext uri="{FF2B5EF4-FFF2-40B4-BE49-F238E27FC236}">
                <a16:creationId xmlns:a16="http://schemas.microsoft.com/office/drawing/2014/main" id="{A4BB6F29-FD56-4800-B0B0-F596C2196F32}"/>
              </a:ext>
            </a:extLst>
          </p:cNvPr>
          <p:cNvSpPr>
            <a:spLocks noGrp="1"/>
          </p:cNvSpPr>
          <p:nvPr/>
        </p:nvSpPr>
        <p:spPr>
          <a:xfrm>
            <a:off x="10839450" y="4800600"/>
            <a:ext cx="6457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SE</a:t>
            </a:r>
          </a:p>
        </p:txBody>
      </p:sp>
      <p:sp>
        <p:nvSpPr>
          <p:cNvPr id="34" name="metric-note-Dikkat">
            <a:extLst>
              <a:ext uri="{FF2B5EF4-FFF2-40B4-BE49-F238E27FC236}">
                <a16:creationId xmlns:a16="http://schemas.microsoft.com/office/drawing/2014/main" id="{2E51E69F-3263-48CE-B598-A5DF0A5F6702}"/>
              </a:ext>
            </a:extLst>
          </p:cNvPr>
          <p:cNvSpPr>
            <a:spLocks noGrp="1"/>
          </p:cNvSpPr>
          <p:nvPr/>
        </p:nvSpPr>
        <p:spPr>
          <a:xfrm>
            <a:off x="10839450" y="556260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kanal bazlı yeniden ağırlıklandırma</a:t>
            </a:r>
          </a:p>
        </p:txBody>
      </p:sp>
      <p:sp>
        <p:nvSpPr>
          <p:cNvPr id="35" name="metric-çıktı">
            <a:extLst>
              <a:ext uri="{FF2B5EF4-FFF2-40B4-BE49-F238E27FC236}">
                <a16:creationId xmlns:a16="http://schemas.microsoft.com/office/drawing/2014/main" id="{FBAADCED-0085-477D-B9DB-0C35916E87C0}"/>
              </a:ext>
            </a:extLst>
          </p:cNvPr>
          <p:cNvSpPr>
            <a:spLocks noGrp="1"/>
          </p:cNvSpPr>
          <p:nvPr/>
        </p:nvSpPr>
        <p:spPr>
          <a:xfrm>
            <a:off x="10568940" y="6292215"/>
            <a:ext cx="699516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36" name="metric-label-Çıktı">
            <a:extLst>
              <a:ext uri="{FF2B5EF4-FFF2-40B4-BE49-F238E27FC236}">
                <a16:creationId xmlns:a16="http://schemas.microsoft.com/office/drawing/2014/main" id="{6C22D5EE-52CF-4C1F-A3D5-BA90A3276E9C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Çıktı</a:t>
            </a:r>
          </a:p>
        </p:txBody>
      </p:sp>
      <p:sp>
        <p:nvSpPr>
          <p:cNvPr id="37" name="metric-value-Çıktı">
            <a:extLst>
              <a:ext uri="{FF2B5EF4-FFF2-40B4-BE49-F238E27FC236}">
                <a16:creationId xmlns:a16="http://schemas.microsoft.com/office/drawing/2014/main" id="{99A5DD6C-26DE-49E7-9514-7637EFA39C89}"/>
              </a:ext>
            </a:extLst>
          </p:cNvPr>
          <p:cNvSpPr>
            <a:spLocks noGrp="1"/>
          </p:cNvSpPr>
          <p:nvPr/>
        </p:nvSpPr>
        <p:spPr>
          <a:xfrm>
            <a:off x="10839450" y="6838950"/>
            <a:ext cx="6457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8</a:t>
            </a:r>
          </a:p>
        </p:txBody>
      </p:sp>
      <p:sp>
        <p:nvSpPr>
          <p:cNvPr id="38" name="metric-note-Çıktı">
            <a:extLst>
              <a:ext uri="{FF2B5EF4-FFF2-40B4-BE49-F238E27FC236}">
                <a16:creationId xmlns:a16="http://schemas.microsoft.com/office/drawing/2014/main" id="{23A04870-E38B-4EB8-B84F-92E01BFB0DEA}"/>
              </a:ext>
            </a:extLst>
          </p:cNvPr>
          <p:cNvSpPr>
            <a:spLocks noGrp="1"/>
          </p:cNvSpPr>
          <p:nvPr/>
        </p:nvSpPr>
        <p:spPr>
          <a:xfrm>
            <a:off x="10839450" y="7600950"/>
            <a:ext cx="645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genre logits</a:t>
            </a:r>
          </a:p>
        </p:txBody>
      </p:sp>
      <p:sp>
        <p:nvSpPr>
          <p:cNvPr id="39" name="source-5">
            <a:extLst>
              <a:ext uri="{FF2B5EF4-FFF2-40B4-BE49-F238E27FC236}">
                <a16:creationId xmlns:a16="http://schemas.microsoft.com/office/drawing/2014/main" id="{1A8A98A4-C503-40D2-A581-85B1D3FF8B86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docs/v2_model.md, ai/src/model.py</a:t>
            </a:r>
          </a:p>
        </p:txBody>
      </p:sp>
      <p:sp>
        <p:nvSpPr>
          <p:cNvPr id="40" name="slide-number-5">
            <a:extLst>
              <a:ext uri="{FF2B5EF4-FFF2-40B4-BE49-F238E27FC236}">
                <a16:creationId xmlns:a16="http://schemas.microsoft.com/office/drawing/2014/main" id="{3B73BBA3-EE2D-4B6E-A456-DBC2C7A3E8A2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2562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g-6">
            <a:extLst>
              <a:ext uri="{FF2B5EF4-FFF2-40B4-BE49-F238E27FC236}">
                <a16:creationId xmlns:a16="http://schemas.microsoft.com/office/drawing/2014/main" id="{99697FB7-E178-4A6C-9872-4ABCFF95B3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6">
            <a:extLst>
              <a:ext uri="{FF2B5EF4-FFF2-40B4-BE49-F238E27FC236}">
                <a16:creationId xmlns:a16="http://schemas.microsoft.com/office/drawing/2014/main" id="{ACFFB1C8-7C79-4E11-854A-433562F069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0A6D6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DA3AC55-DA3A-4ABF-B69B-28B150A70845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Eğitim stratejisi: küçük veri için düzenleme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788BC4A-E0FE-448A-8C3B-2EA408C08396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9334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 dirty="0">
                <a:solidFill>
                  <a:srgbClr val="53616E"/>
                </a:solidFill>
              </a:rPr>
              <a:t>Amaç </a:t>
            </a:r>
            <a:r>
              <a:rPr sz="1800" dirty="0" err="1">
                <a:solidFill>
                  <a:srgbClr val="53616E"/>
                </a:solidFill>
              </a:rPr>
              <a:t>yalnızca</a:t>
            </a:r>
            <a:r>
              <a:rPr sz="1800" dirty="0">
                <a:solidFill>
                  <a:srgbClr val="53616E"/>
                </a:solidFill>
              </a:rPr>
              <a:t> train </a:t>
            </a:r>
            <a:r>
              <a:rPr sz="1800" dirty="0" err="1">
                <a:solidFill>
                  <a:srgbClr val="53616E"/>
                </a:solidFill>
              </a:rPr>
              <a:t>doğruluğunu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yükseltmek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değil</a:t>
            </a:r>
            <a:r>
              <a:rPr sz="1800" dirty="0">
                <a:solidFill>
                  <a:srgbClr val="53616E"/>
                </a:solidFill>
              </a:rPr>
              <a:t>; </a:t>
            </a:r>
            <a:r>
              <a:rPr sz="1800" dirty="0" err="1">
                <a:solidFill>
                  <a:srgbClr val="53616E"/>
                </a:solidFill>
              </a:rPr>
              <a:t>türler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arasında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daha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dengeli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genelleme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sağlamak</a:t>
            </a:r>
            <a:r>
              <a:rPr sz="1800" dirty="0">
                <a:solidFill>
                  <a:srgbClr val="53616E"/>
                </a:solidFill>
              </a:rPr>
              <a:t>.</a:t>
            </a:r>
          </a:p>
        </p:txBody>
      </p:sp>
      <p:sp>
        <p:nvSpPr>
          <p:cNvPr id="6" name="metric-optimizer">
            <a:extLst>
              <a:ext uri="{FF2B5EF4-FFF2-40B4-BE49-F238E27FC236}">
                <a16:creationId xmlns:a16="http://schemas.microsoft.com/office/drawing/2014/main" id="{61F0E7D3-AF97-4F5F-91C8-BB76D2A7D09B}"/>
              </a:ext>
            </a:extLst>
          </p:cNvPr>
          <p:cNvSpPr>
            <a:spLocks noGrp="1"/>
          </p:cNvSpPr>
          <p:nvPr/>
        </p:nvSpPr>
        <p:spPr>
          <a:xfrm>
            <a:off x="723900" y="19411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7" name="metric-label-Optimizer">
            <a:extLst>
              <a:ext uri="{FF2B5EF4-FFF2-40B4-BE49-F238E27FC236}">
                <a16:creationId xmlns:a16="http://schemas.microsoft.com/office/drawing/2014/main" id="{1FEB3A11-0D37-4A45-9287-63970C1D21E4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Optimizer</a:t>
            </a:r>
          </a:p>
        </p:txBody>
      </p:sp>
      <p:sp>
        <p:nvSpPr>
          <p:cNvPr id="8" name="metric-value-Optimizer">
            <a:extLst>
              <a:ext uri="{FF2B5EF4-FFF2-40B4-BE49-F238E27FC236}">
                <a16:creationId xmlns:a16="http://schemas.microsoft.com/office/drawing/2014/main" id="{6451C8D1-5478-45F3-B9C4-D05F33321C6D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AdamW</a:t>
            </a:r>
          </a:p>
        </p:txBody>
      </p:sp>
      <p:sp>
        <p:nvSpPr>
          <p:cNvPr id="9" name="metric-note-Optimizer">
            <a:extLst>
              <a:ext uri="{FF2B5EF4-FFF2-40B4-BE49-F238E27FC236}">
                <a16:creationId xmlns:a16="http://schemas.microsoft.com/office/drawing/2014/main" id="{05A00ADD-3095-4CE8-9414-AE4623B0E9C1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lr=0.001, weight_decay=0.0001</a:t>
            </a:r>
          </a:p>
        </p:txBody>
      </p:sp>
      <p:sp>
        <p:nvSpPr>
          <p:cNvPr id="10" name="metric-schedule">
            <a:extLst>
              <a:ext uri="{FF2B5EF4-FFF2-40B4-BE49-F238E27FC236}">
                <a16:creationId xmlns:a16="http://schemas.microsoft.com/office/drawing/2014/main" id="{3640B43E-0C76-4D90-84D3-DE9A774B540D}"/>
              </a:ext>
            </a:extLst>
          </p:cNvPr>
          <p:cNvSpPr>
            <a:spLocks noGrp="1"/>
          </p:cNvSpPr>
          <p:nvPr/>
        </p:nvSpPr>
        <p:spPr>
          <a:xfrm>
            <a:off x="6413500" y="19411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1" name="metric-label-Schedule">
            <a:extLst>
              <a:ext uri="{FF2B5EF4-FFF2-40B4-BE49-F238E27FC236}">
                <a16:creationId xmlns:a16="http://schemas.microsoft.com/office/drawing/2014/main" id="{C08053D0-3059-4F6D-B5B2-5022BA67B95E}"/>
              </a:ext>
            </a:extLst>
          </p:cNvPr>
          <p:cNvSpPr>
            <a:spLocks noGrp="1"/>
          </p:cNvSpPr>
          <p:nvPr/>
        </p:nvSpPr>
        <p:spPr>
          <a:xfrm>
            <a:off x="6686550" y="21717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Schedule</a:t>
            </a:r>
          </a:p>
        </p:txBody>
      </p:sp>
      <p:sp>
        <p:nvSpPr>
          <p:cNvPr id="12" name="metric-value-Schedule">
            <a:extLst>
              <a:ext uri="{FF2B5EF4-FFF2-40B4-BE49-F238E27FC236}">
                <a16:creationId xmlns:a16="http://schemas.microsoft.com/office/drawing/2014/main" id="{279D6C42-93B3-4F76-952E-57C0479C3CBE}"/>
              </a:ext>
            </a:extLst>
          </p:cNvPr>
          <p:cNvSpPr>
            <a:spLocks noGrp="1"/>
          </p:cNvSpPr>
          <p:nvPr/>
        </p:nvSpPr>
        <p:spPr>
          <a:xfrm>
            <a:off x="6686550" y="24955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0A6D6"/>
                </a:solidFill>
              </a:defRPr>
            </a:pPr>
            <a:r>
              <a:rPr sz="4350" b="1">
                <a:solidFill>
                  <a:srgbClr val="00A6D6"/>
                </a:solidFill>
              </a:rPr>
              <a:t>Cosine</a:t>
            </a:r>
          </a:p>
        </p:txBody>
      </p:sp>
      <p:sp>
        <p:nvSpPr>
          <p:cNvPr id="13" name="metric-note-Schedule">
            <a:extLst>
              <a:ext uri="{FF2B5EF4-FFF2-40B4-BE49-F238E27FC236}">
                <a16:creationId xmlns:a16="http://schemas.microsoft.com/office/drawing/2014/main" id="{D58F9026-FD9D-4514-81E3-469B9ABE8AD7}"/>
              </a:ext>
            </a:extLst>
          </p:cNvPr>
          <p:cNvSpPr>
            <a:spLocks noGrp="1"/>
          </p:cNvSpPr>
          <p:nvPr/>
        </p:nvSpPr>
        <p:spPr>
          <a:xfrm>
            <a:off x="6686550" y="32575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CosineAnnealingLR</a:t>
            </a:r>
          </a:p>
        </p:txBody>
      </p:sp>
      <p:sp>
        <p:nvSpPr>
          <p:cNvPr id="14" name="metric-epoch">
            <a:extLst>
              <a:ext uri="{FF2B5EF4-FFF2-40B4-BE49-F238E27FC236}">
                <a16:creationId xmlns:a16="http://schemas.microsoft.com/office/drawing/2014/main" id="{0030243A-9D36-4366-B251-5CC318BE8014}"/>
              </a:ext>
            </a:extLst>
          </p:cNvPr>
          <p:cNvSpPr>
            <a:spLocks noGrp="1"/>
          </p:cNvSpPr>
          <p:nvPr/>
        </p:nvSpPr>
        <p:spPr>
          <a:xfrm>
            <a:off x="12103100" y="1941195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5" name="metric-label-Epoch">
            <a:extLst>
              <a:ext uri="{FF2B5EF4-FFF2-40B4-BE49-F238E27FC236}">
                <a16:creationId xmlns:a16="http://schemas.microsoft.com/office/drawing/2014/main" id="{04D52153-B1E1-482D-9878-0B6410BF896A}"/>
              </a:ext>
            </a:extLst>
          </p:cNvPr>
          <p:cNvSpPr>
            <a:spLocks noGrp="1"/>
          </p:cNvSpPr>
          <p:nvPr/>
        </p:nvSpPr>
        <p:spPr>
          <a:xfrm>
            <a:off x="12363450" y="21717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Epoch</a:t>
            </a:r>
          </a:p>
        </p:txBody>
      </p:sp>
      <p:sp>
        <p:nvSpPr>
          <p:cNvPr id="16" name="metric-value-Epoch">
            <a:extLst>
              <a:ext uri="{FF2B5EF4-FFF2-40B4-BE49-F238E27FC236}">
                <a16:creationId xmlns:a16="http://schemas.microsoft.com/office/drawing/2014/main" id="{B22A1C5D-28D3-4CF2-8968-170296CC6B46}"/>
              </a:ext>
            </a:extLst>
          </p:cNvPr>
          <p:cNvSpPr>
            <a:spLocks noGrp="1"/>
          </p:cNvSpPr>
          <p:nvPr/>
        </p:nvSpPr>
        <p:spPr>
          <a:xfrm>
            <a:off x="12363450" y="249555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8A058"/>
                </a:solidFill>
              </a:defRPr>
            </a:pPr>
            <a:r>
              <a:rPr sz="4350" b="1">
                <a:solidFill>
                  <a:srgbClr val="18A058"/>
                </a:solidFill>
              </a:rPr>
              <a:t>50</a:t>
            </a:r>
          </a:p>
        </p:txBody>
      </p:sp>
      <p:sp>
        <p:nvSpPr>
          <p:cNvPr id="17" name="metric-note-Epoch">
            <a:extLst>
              <a:ext uri="{FF2B5EF4-FFF2-40B4-BE49-F238E27FC236}">
                <a16:creationId xmlns:a16="http://schemas.microsoft.com/office/drawing/2014/main" id="{F2D2828C-0FD0-4665-8121-D2D768C63F97}"/>
              </a:ext>
            </a:extLst>
          </p:cNvPr>
          <p:cNvSpPr>
            <a:spLocks noGrp="1"/>
          </p:cNvSpPr>
          <p:nvPr/>
        </p:nvSpPr>
        <p:spPr>
          <a:xfrm>
            <a:off x="12363450" y="32575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early stopping + checkpoint</a:t>
            </a:r>
          </a:p>
        </p:txBody>
      </p:sp>
      <p:sp>
        <p:nvSpPr>
          <p:cNvPr id="18" name="metric-regularize">
            <a:extLst>
              <a:ext uri="{FF2B5EF4-FFF2-40B4-BE49-F238E27FC236}">
                <a16:creationId xmlns:a16="http://schemas.microsoft.com/office/drawing/2014/main" id="{9F48F60D-DD88-4EAA-A16D-56B727D31268}"/>
              </a:ext>
            </a:extLst>
          </p:cNvPr>
          <p:cNvSpPr>
            <a:spLocks noGrp="1"/>
          </p:cNvSpPr>
          <p:nvPr/>
        </p:nvSpPr>
        <p:spPr>
          <a:xfrm>
            <a:off x="723900" y="5736908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9" name="metric-label-Regularize">
            <a:extLst>
              <a:ext uri="{FF2B5EF4-FFF2-40B4-BE49-F238E27FC236}">
                <a16:creationId xmlns:a16="http://schemas.microsoft.com/office/drawing/2014/main" id="{C111AD8F-621B-4F31-BF40-2C05C12EDA38}"/>
              </a:ext>
            </a:extLst>
          </p:cNvPr>
          <p:cNvSpPr>
            <a:spLocks noGrp="1"/>
          </p:cNvSpPr>
          <p:nvPr/>
        </p:nvSpPr>
        <p:spPr>
          <a:xfrm>
            <a:off x="990600" y="59626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Regularize</a:t>
            </a:r>
          </a:p>
        </p:txBody>
      </p:sp>
      <p:sp>
        <p:nvSpPr>
          <p:cNvPr id="20" name="metric-value-Regularize">
            <a:extLst>
              <a:ext uri="{FF2B5EF4-FFF2-40B4-BE49-F238E27FC236}">
                <a16:creationId xmlns:a16="http://schemas.microsoft.com/office/drawing/2014/main" id="{B45EA9B5-1F46-4876-846D-348FC43D89A4}"/>
              </a:ext>
            </a:extLst>
          </p:cNvPr>
          <p:cNvSpPr>
            <a:spLocks noGrp="1"/>
          </p:cNvSpPr>
          <p:nvPr/>
        </p:nvSpPr>
        <p:spPr>
          <a:xfrm>
            <a:off x="990600" y="628650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sz="4350" b="1">
                <a:solidFill>
                  <a:srgbClr val="FF5A5F"/>
                </a:solidFill>
              </a:rPr>
              <a:t>Dropout</a:t>
            </a:r>
          </a:p>
        </p:txBody>
      </p:sp>
      <p:sp>
        <p:nvSpPr>
          <p:cNvPr id="21" name="metric-note-Regularize">
            <a:extLst>
              <a:ext uri="{FF2B5EF4-FFF2-40B4-BE49-F238E27FC236}">
                <a16:creationId xmlns:a16="http://schemas.microsoft.com/office/drawing/2014/main" id="{F6E8EBE7-501D-48DE-9B63-6C081365EDCA}"/>
              </a:ext>
            </a:extLst>
          </p:cNvPr>
          <p:cNvSpPr>
            <a:spLocks noGrp="1"/>
          </p:cNvSpPr>
          <p:nvPr/>
        </p:nvSpPr>
        <p:spPr>
          <a:xfrm>
            <a:off x="990600" y="7048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classifier katmanında</a:t>
            </a:r>
          </a:p>
        </p:txBody>
      </p:sp>
      <p:sp>
        <p:nvSpPr>
          <p:cNvPr id="22" name="metric-labels">
            <a:extLst>
              <a:ext uri="{FF2B5EF4-FFF2-40B4-BE49-F238E27FC236}">
                <a16:creationId xmlns:a16="http://schemas.microsoft.com/office/drawing/2014/main" id="{E8817EB1-4832-48F1-8DB1-A41B5A3E7DB1}"/>
              </a:ext>
            </a:extLst>
          </p:cNvPr>
          <p:cNvSpPr>
            <a:spLocks noGrp="1"/>
          </p:cNvSpPr>
          <p:nvPr/>
        </p:nvSpPr>
        <p:spPr>
          <a:xfrm>
            <a:off x="6413500" y="5736908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3" name="metric-label-Labels">
            <a:extLst>
              <a:ext uri="{FF2B5EF4-FFF2-40B4-BE49-F238E27FC236}">
                <a16:creationId xmlns:a16="http://schemas.microsoft.com/office/drawing/2014/main" id="{A9A7F201-2D3A-465E-A427-F568E62F643C}"/>
              </a:ext>
            </a:extLst>
          </p:cNvPr>
          <p:cNvSpPr>
            <a:spLocks noGrp="1"/>
          </p:cNvSpPr>
          <p:nvPr/>
        </p:nvSpPr>
        <p:spPr>
          <a:xfrm>
            <a:off x="6686550" y="59626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Labels</a:t>
            </a:r>
          </a:p>
        </p:txBody>
      </p:sp>
      <p:sp>
        <p:nvSpPr>
          <p:cNvPr id="24" name="metric-value-Labels">
            <a:extLst>
              <a:ext uri="{FF2B5EF4-FFF2-40B4-BE49-F238E27FC236}">
                <a16:creationId xmlns:a16="http://schemas.microsoft.com/office/drawing/2014/main" id="{052AEE22-5524-4960-9E46-5E5C279C18CE}"/>
              </a:ext>
            </a:extLst>
          </p:cNvPr>
          <p:cNvSpPr>
            <a:spLocks noGrp="1"/>
          </p:cNvSpPr>
          <p:nvPr/>
        </p:nvSpPr>
        <p:spPr>
          <a:xfrm>
            <a:off x="6686550" y="628650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5B301"/>
                </a:solidFill>
              </a:defRPr>
            </a:pPr>
            <a:r>
              <a:rPr sz="4350" b="1">
                <a:solidFill>
                  <a:srgbClr val="F5B301"/>
                </a:solidFill>
              </a:rPr>
              <a:t>Smooth</a:t>
            </a:r>
          </a:p>
        </p:txBody>
      </p:sp>
      <p:sp>
        <p:nvSpPr>
          <p:cNvPr id="25" name="metric-note-Labels">
            <a:extLst>
              <a:ext uri="{FF2B5EF4-FFF2-40B4-BE49-F238E27FC236}">
                <a16:creationId xmlns:a16="http://schemas.microsoft.com/office/drawing/2014/main" id="{EC486BDC-01EE-4A1D-848A-7704CBB02640}"/>
              </a:ext>
            </a:extLst>
          </p:cNvPr>
          <p:cNvSpPr>
            <a:spLocks noGrp="1"/>
          </p:cNvSpPr>
          <p:nvPr/>
        </p:nvSpPr>
        <p:spPr>
          <a:xfrm>
            <a:off x="6686550" y="7048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label smoothing ile aşırı güven azaltma</a:t>
            </a:r>
          </a:p>
        </p:txBody>
      </p:sp>
      <p:sp>
        <p:nvSpPr>
          <p:cNvPr id="26" name="metric-augment">
            <a:extLst>
              <a:ext uri="{FF2B5EF4-FFF2-40B4-BE49-F238E27FC236}">
                <a16:creationId xmlns:a16="http://schemas.microsoft.com/office/drawing/2014/main" id="{DB9EB4F6-322D-47F7-B059-C95CDEE93837}"/>
              </a:ext>
            </a:extLst>
          </p:cNvPr>
          <p:cNvSpPr>
            <a:spLocks noGrp="1"/>
          </p:cNvSpPr>
          <p:nvPr/>
        </p:nvSpPr>
        <p:spPr>
          <a:xfrm>
            <a:off x="12103100" y="5736908"/>
            <a:ext cx="54610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27" name="metric-label-Augment">
            <a:extLst>
              <a:ext uri="{FF2B5EF4-FFF2-40B4-BE49-F238E27FC236}">
                <a16:creationId xmlns:a16="http://schemas.microsoft.com/office/drawing/2014/main" id="{5A35443C-227F-4DFF-B51B-13DB1A3E9A9D}"/>
              </a:ext>
            </a:extLst>
          </p:cNvPr>
          <p:cNvSpPr>
            <a:spLocks noGrp="1"/>
          </p:cNvSpPr>
          <p:nvPr/>
        </p:nvSpPr>
        <p:spPr>
          <a:xfrm>
            <a:off x="12363450" y="596265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Augment</a:t>
            </a:r>
          </a:p>
        </p:txBody>
      </p:sp>
      <p:sp>
        <p:nvSpPr>
          <p:cNvPr id="28" name="metric-value-Augment">
            <a:extLst>
              <a:ext uri="{FF2B5EF4-FFF2-40B4-BE49-F238E27FC236}">
                <a16:creationId xmlns:a16="http://schemas.microsoft.com/office/drawing/2014/main" id="{83AC07E1-BC95-42AF-8533-77FE8718C672}"/>
              </a:ext>
            </a:extLst>
          </p:cNvPr>
          <p:cNvSpPr>
            <a:spLocks noGrp="1"/>
          </p:cNvSpPr>
          <p:nvPr/>
        </p:nvSpPr>
        <p:spPr>
          <a:xfrm>
            <a:off x="12363450" y="6286500"/>
            <a:ext cx="4933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SpecAug</a:t>
            </a:r>
          </a:p>
        </p:txBody>
      </p:sp>
      <p:sp>
        <p:nvSpPr>
          <p:cNvPr id="29" name="metric-note-Augment">
            <a:extLst>
              <a:ext uri="{FF2B5EF4-FFF2-40B4-BE49-F238E27FC236}">
                <a16:creationId xmlns:a16="http://schemas.microsoft.com/office/drawing/2014/main" id="{8EB8A01A-9547-4A57-833D-ABA652470A69}"/>
              </a:ext>
            </a:extLst>
          </p:cNvPr>
          <p:cNvSpPr>
            <a:spLocks noGrp="1"/>
          </p:cNvSpPr>
          <p:nvPr/>
        </p:nvSpPr>
        <p:spPr>
          <a:xfrm>
            <a:off x="12363450" y="7048500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time/frequency masking</a:t>
            </a:r>
          </a:p>
        </p:txBody>
      </p:sp>
      <p:sp>
        <p:nvSpPr>
          <p:cNvPr id="30" name="source-6">
            <a:extLst>
              <a:ext uri="{FF2B5EF4-FFF2-40B4-BE49-F238E27FC236}">
                <a16:creationId xmlns:a16="http://schemas.microsoft.com/office/drawing/2014/main" id="{6633A17A-BFC6-4B57-860B-40C889B0394F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ai/config.yaml, ai/src/train.py, docs/v2_results.md</a:t>
            </a:r>
          </a:p>
        </p:txBody>
      </p:sp>
      <p:sp>
        <p:nvSpPr>
          <p:cNvPr id="31" name="slide-number-6">
            <a:extLst>
              <a:ext uri="{FF2B5EF4-FFF2-40B4-BE49-F238E27FC236}">
                <a16:creationId xmlns:a16="http://schemas.microsoft.com/office/drawing/2014/main" id="{80F9A594-C0CB-4327-B4C2-6D6C1149E518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832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g-7">
            <a:extLst>
              <a:ext uri="{FF2B5EF4-FFF2-40B4-BE49-F238E27FC236}">
                <a16:creationId xmlns:a16="http://schemas.microsoft.com/office/drawing/2014/main" id="{851DE060-5F7C-4F64-ADE7-DAD9B02997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7">
            <a:extLst>
              <a:ext uri="{FF2B5EF4-FFF2-40B4-BE49-F238E27FC236}">
                <a16:creationId xmlns:a16="http://schemas.microsoft.com/office/drawing/2014/main" id="{2A6C19A0-D86C-412F-9879-5B1AC890B2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1EA22CB-60F0-4349-9A1D-6147955CC7B4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Sonuç: V2 küçük ama anlamlı denge kazandırdı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B7B518B-6D29-4A2B-840D-16923AA8B691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8477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 dirty="0">
                <a:solidFill>
                  <a:srgbClr val="53616E"/>
                </a:solidFill>
              </a:rPr>
              <a:t>Test </a:t>
            </a:r>
            <a:r>
              <a:rPr sz="1800" dirty="0" err="1">
                <a:solidFill>
                  <a:srgbClr val="53616E"/>
                </a:solidFill>
              </a:rPr>
              <a:t>seti</a:t>
            </a:r>
            <a:r>
              <a:rPr sz="1800" dirty="0">
                <a:solidFill>
                  <a:srgbClr val="53616E"/>
                </a:solidFill>
              </a:rPr>
              <a:t> 1,199 </a:t>
            </a:r>
            <a:r>
              <a:rPr sz="1800" dirty="0" err="1">
                <a:solidFill>
                  <a:srgbClr val="53616E"/>
                </a:solidFill>
              </a:rPr>
              <a:t>örnekten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oluşuyor</a:t>
            </a:r>
            <a:r>
              <a:rPr sz="1800" dirty="0">
                <a:solidFill>
                  <a:srgbClr val="53616E"/>
                </a:solidFill>
              </a:rPr>
              <a:t>; V2 hem </a:t>
            </a:r>
            <a:r>
              <a:rPr sz="1800" dirty="0" err="1">
                <a:solidFill>
                  <a:srgbClr val="53616E"/>
                </a:solidFill>
              </a:rPr>
              <a:t>doğrulukta</a:t>
            </a:r>
            <a:r>
              <a:rPr sz="1800" dirty="0">
                <a:solidFill>
                  <a:srgbClr val="53616E"/>
                </a:solidFill>
              </a:rPr>
              <a:t> hem F1 </a:t>
            </a:r>
            <a:r>
              <a:rPr sz="1800" dirty="0" err="1">
                <a:solidFill>
                  <a:srgbClr val="53616E"/>
                </a:solidFill>
              </a:rPr>
              <a:t>skorlarında</a:t>
            </a:r>
            <a:r>
              <a:rPr sz="1800" dirty="0">
                <a:solidFill>
                  <a:srgbClr val="53616E"/>
                </a:solidFill>
              </a:rPr>
              <a:t> V1'in </a:t>
            </a:r>
            <a:r>
              <a:rPr sz="1800" dirty="0" err="1">
                <a:solidFill>
                  <a:srgbClr val="53616E"/>
                </a:solidFill>
              </a:rPr>
              <a:t>üstüne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çıktı</a:t>
            </a:r>
            <a:r>
              <a:rPr sz="1800" dirty="0">
                <a:solidFill>
                  <a:srgbClr val="53616E"/>
                </a:solidFill>
              </a:rPr>
              <a:t>.</a:t>
            </a:r>
          </a:p>
        </p:txBody>
      </p:sp>
      <p:graphicFrame>
        <p:nvGraphicFramePr>
          <p:cNvPr id="6" name="chart-main"/>
          <p:cNvGraphicFramePr/>
          <p:nvPr/>
        </p:nvGraphicFramePr>
        <p:xfrm>
          <a:off x="723900" y="1941195"/>
          <a:ext cx="8661083" cy="7362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metric-accuracy">
            <a:extLst>
              <a:ext uri="{FF2B5EF4-FFF2-40B4-BE49-F238E27FC236}">
                <a16:creationId xmlns:a16="http://schemas.microsoft.com/office/drawing/2014/main" id="{43F9FCD4-E9CB-4375-90BC-30547198CCCA}"/>
              </a:ext>
            </a:extLst>
          </p:cNvPr>
          <p:cNvSpPr>
            <a:spLocks noGrp="1"/>
          </p:cNvSpPr>
          <p:nvPr/>
        </p:nvSpPr>
        <p:spPr>
          <a:xfrm>
            <a:off x="9727883" y="1941195"/>
            <a:ext cx="7836217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 dirty="0"/>
          </a:p>
        </p:txBody>
      </p:sp>
      <p:sp>
        <p:nvSpPr>
          <p:cNvPr id="8" name="metric-label-Accuracy">
            <a:extLst>
              <a:ext uri="{FF2B5EF4-FFF2-40B4-BE49-F238E27FC236}">
                <a16:creationId xmlns:a16="http://schemas.microsoft.com/office/drawing/2014/main" id="{F95432CC-DD4F-4B47-BCB9-C44C962DC582}"/>
              </a:ext>
            </a:extLst>
          </p:cNvPr>
          <p:cNvSpPr>
            <a:spLocks noGrp="1"/>
          </p:cNvSpPr>
          <p:nvPr/>
        </p:nvSpPr>
        <p:spPr>
          <a:xfrm>
            <a:off x="10001250" y="21717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Accuracy</a:t>
            </a:r>
          </a:p>
        </p:txBody>
      </p:sp>
      <p:sp>
        <p:nvSpPr>
          <p:cNvPr id="9" name="metric-value-Accuracy">
            <a:extLst>
              <a:ext uri="{FF2B5EF4-FFF2-40B4-BE49-F238E27FC236}">
                <a16:creationId xmlns:a16="http://schemas.microsoft.com/office/drawing/2014/main" id="{4DCACDBF-27B4-47F2-BB98-9208733CB8B2}"/>
              </a:ext>
            </a:extLst>
          </p:cNvPr>
          <p:cNvSpPr>
            <a:spLocks noGrp="1"/>
          </p:cNvSpPr>
          <p:nvPr/>
        </p:nvSpPr>
        <p:spPr>
          <a:xfrm>
            <a:off x="10001250" y="2495550"/>
            <a:ext cx="72961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5A5F"/>
                </a:solidFill>
              </a:defRPr>
            </a:pPr>
            <a:r>
              <a:rPr lang="tr-TR" sz="4350" b="1" dirty="0">
                <a:solidFill>
                  <a:srgbClr val="FF5A5F"/>
                </a:solidFill>
              </a:rPr>
              <a:t>74</a:t>
            </a:r>
            <a:r>
              <a:rPr sz="4350" b="1" dirty="0">
                <a:solidFill>
                  <a:srgbClr val="FF5A5F"/>
                </a:solidFill>
              </a:rPr>
              <a:t>%</a:t>
            </a:r>
          </a:p>
        </p:txBody>
      </p:sp>
      <p:sp>
        <p:nvSpPr>
          <p:cNvPr id="10" name="metric-note-Accuracy">
            <a:extLst>
              <a:ext uri="{FF2B5EF4-FFF2-40B4-BE49-F238E27FC236}">
                <a16:creationId xmlns:a16="http://schemas.microsoft.com/office/drawing/2014/main" id="{36105C80-3235-4A70-8ED1-01F037908327}"/>
              </a:ext>
            </a:extLst>
          </p:cNvPr>
          <p:cNvSpPr>
            <a:spLocks noGrp="1"/>
          </p:cNvSpPr>
          <p:nvPr/>
        </p:nvSpPr>
        <p:spPr>
          <a:xfrm>
            <a:off x="10001250" y="32575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endParaRPr sz="1500" dirty="0">
              <a:solidFill>
                <a:srgbClr val="53616E"/>
              </a:solidFill>
            </a:endParaRPr>
          </a:p>
        </p:txBody>
      </p:sp>
      <p:sp>
        <p:nvSpPr>
          <p:cNvPr id="11" name="metric-macro-f1">
            <a:extLst>
              <a:ext uri="{FF2B5EF4-FFF2-40B4-BE49-F238E27FC236}">
                <a16:creationId xmlns:a16="http://schemas.microsoft.com/office/drawing/2014/main" id="{BBE16177-CBC0-4E43-A17D-A2F5BFB3595F}"/>
              </a:ext>
            </a:extLst>
          </p:cNvPr>
          <p:cNvSpPr>
            <a:spLocks noGrp="1"/>
          </p:cNvSpPr>
          <p:nvPr/>
        </p:nvSpPr>
        <p:spPr>
          <a:xfrm>
            <a:off x="9727883" y="3960495"/>
            <a:ext cx="7836217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2" name="metric-label-Macro F1">
            <a:extLst>
              <a:ext uri="{FF2B5EF4-FFF2-40B4-BE49-F238E27FC236}">
                <a16:creationId xmlns:a16="http://schemas.microsoft.com/office/drawing/2014/main" id="{25880CF5-E2E2-4A47-AA3E-E978336C0959}"/>
              </a:ext>
            </a:extLst>
          </p:cNvPr>
          <p:cNvSpPr>
            <a:spLocks noGrp="1"/>
          </p:cNvSpPr>
          <p:nvPr/>
        </p:nvSpPr>
        <p:spPr>
          <a:xfrm>
            <a:off x="10001250" y="41910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Macro F1</a:t>
            </a:r>
          </a:p>
        </p:txBody>
      </p:sp>
      <p:sp>
        <p:nvSpPr>
          <p:cNvPr id="13" name="metric-value-Macro F1">
            <a:extLst>
              <a:ext uri="{FF2B5EF4-FFF2-40B4-BE49-F238E27FC236}">
                <a16:creationId xmlns:a16="http://schemas.microsoft.com/office/drawing/2014/main" id="{DD55300A-6DF8-4191-9737-13D8FEA83A57}"/>
              </a:ext>
            </a:extLst>
          </p:cNvPr>
          <p:cNvSpPr>
            <a:spLocks noGrp="1"/>
          </p:cNvSpPr>
          <p:nvPr/>
        </p:nvSpPr>
        <p:spPr>
          <a:xfrm>
            <a:off x="10001250" y="4514850"/>
            <a:ext cx="72961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4F46E5"/>
                </a:solidFill>
              </a:defRPr>
            </a:pPr>
            <a:r>
              <a:rPr sz="4350" b="1">
                <a:solidFill>
                  <a:srgbClr val="4F46E5"/>
                </a:solidFill>
              </a:rPr>
              <a:t>0.62</a:t>
            </a:r>
          </a:p>
        </p:txBody>
      </p:sp>
      <p:sp>
        <p:nvSpPr>
          <p:cNvPr id="14" name="metric-note-Macro F1">
            <a:extLst>
              <a:ext uri="{FF2B5EF4-FFF2-40B4-BE49-F238E27FC236}">
                <a16:creationId xmlns:a16="http://schemas.microsoft.com/office/drawing/2014/main" id="{C6575C53-7941-4D67-A70C-8D3A9BFC2688}"/>
              </a:ext>
            </a:extLst>
          </p:cNvPr>
          <p:cNvSpPr>
            <a:spLocks noGrp="1"/>
          </p:cNvSpPr>
          <p:nvPr/>
        </p:nvSpPr>
        <p:spPr>
          <a:xfrm>
            <a:off x="10001250" y="52768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sınıflar arası ortalama +0.03</a:t>
            </a:r>
          </a:p>
        </p:txBody>
      </p:sp>
      <p:sp>
        <p:nvSpPr>
          <p:cNvPr id="15" name="metric-weighted-f1">
            <a:extLst>
              <a:ext uri="{FF2B5EF4-FFF2-40B4-BE49-F238E27FC236}">
                <a16:creationId xmlns:a16="http://schemas.microsoft.com/office/drawing/2014/main" id="{973D497E-D1DE-4ED2-9148-F12ECFF5AAB5}"/>
              </a:ext>
            </a:extLst>
          </p:cNvPr>
          <p:cNvSpPr>
            <a:spLocks noGrp="1"/>
          </p:cNvSpPr>
          <p:nvPr/>
        </p:nvSpPr>
        <p:spPr>
          <a:xfrm>
            <a:off x="9727883" y="5979795"/>
            <a:ext cx="7836217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sp>
        <p:nvSpPr>
          <p:cNvPr id="16" name="metric-label-Weighted F1">
            <a:extLst>
              <a:ext uri="{FF2B5EF4-FFF2-40B4-BE49-F238E27FC236}">
                <a16:creationId xmlns:a16="http://schemas.microsoft.com/office/drawing/2014/main" id="{29B634CA-CF59-46CA-BEAB-E3FFC8125959}"/>
              </a:ext>
            </a:extLst>
          </p:cNvPr>
          <p:cNvSpPr>
            <a:spLocks noGrp="1"/>
          </p:cNvSpPr>
          <p:nvPr/>
        </p:nvSpPr>
        <p:spPr>
          <a:xfrm>
            <a:off x="10001250" y="621030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53616E"/>
                </a:solidFill>
              </a:defRPr>
            </a:pPr>
            <a:r>
              <a:rPr sz="1500" b="1">
                <a:solidFill>
                  <a:srgbClr val="53616E"/>
                </a:solidFill>
              </a:rPr>
              <a:t>Weighted F1</a:t>
            </a:r>
          </a:p>
        </p:txBody>
      </p:sp>
      <p:sp>
        <p:nvSpPr>
          <p:cNvPr id="17" name="metric-value-Weighted F1">
            <a:extLst>
              <a:ext uri="{FF2B5EF4-FFF2-40B4-BE49-F238E27FC236}">
                <a16:creationId xmlns:a16="http://schemas.microsoft.com/office/drawing/2014/main" id="{D7D940DA-AEE7-4E08-A6CB-A0CA9CE4B084}"/>
              </a:ext>
            </a:extLst>
          </p:cNvPr>
          <p:cNvSpPr>
            <a:spLocks noGrp="1"/>
          </p:cNvSpPr>
          <p:nvPr/>
        </p:nvSpPr>
        <p:spPr>
          <a:xfrm>
            <a:off x="10001250" y="6534150"/>
            <a:ext cx="72961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8A058"/>
                </a:solidFill>
              </a:defRPr>
            </a:pPr>
            <a:r>
              <a:rPr sz="4350" b="1">
                <a:solidFill>
                  <a:srgbClr val="18A058"/>
                </a:solidFill>
              </a:rPr>
              <a:t>0.62</a:t>
            </a:r>
          </a:p>
        </p:txBody>
      </p:sp>
      <p:sp>
        <p:nvSpPr>
          <p:cNvPr id="18" name="metric-note-Weighted F1">
            <a:extLst>
              <a:ext uri="{FF2B5EF4-FFF2-40B4-BE49-F238E27FC236}">
                <a16:creationId xmlns:a16="http://schemas.microsoft.com/office/drawing/2014/main" id="{0BF068EC-7A16-4DDC-8445-41D864E011C6}"/>
              </a:ext>
            </a:extLst>
          </p:cNvPr>
          <p:cNvSpPr>
            <a:spLocks noGrp="1"/>
          </p:cNvSpPr>
          <p:nvPr/>
        </p:nvSpPr>
        <p:spPr>
          <a:xfrm>
            <a:off x="10001250" y="7296150"/>
            <a:ext cx="729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destek ağırlıklı +0.03</a:t>
            </a:r>
          </a:p>
        </p:txBody>
      </p:sp>
      <p:sp>
        <p:nvSpPr>
          <p:cNvPr id="19" name="source-7">
            <a:extLst>
              <a:ext uri="{FF2B5EF4-FFF2-40B4-BE49-F238E27FC236}">
                <a16:creationId xmlns:a16="http://schemas.microsoft.com/office/drawing/2014/main" id="{D9019A82-69BA-4DA3-AE1B-E24EB5E8D537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docs/v2_results.md</a:t>
            </a:r>
          </a:p>
        </p:txBody>
      </p:sp>
      <p:sp>
        <p:nvSpPr>
          <p:cNvPr id="20" name="slide-number-7">
            <a:extLst>
              <a:ext uri="{FF2B5EF4-FFF2-40B4-BE49-F238E27FC236}">
                <a16:creationId xmlns:a16="http://schemas.microsoft.com/office/drawing/2014/main" id="{BFB8F5CB-A699-4E04-9316-3C6447B30F9B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5440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-8">
            <a:extLst>
              <a:ext uri="{FF2B5EF4-FFF2-40B4-BE49-F238E27FC236}">
                <a16:creationId xmlns:a16="http://schemas.microsoft.com/office/drawing/2014/main" id="{BF511C1F-2446-48F1-B1BA-E0C96D0540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8">
            <a:extLst>
              <a:ext uri="{FF2B5EF4-FFF2-40B4-BE49-F238E27FC236}">
                <a16:creationId xmlns:a16="http://schemas.microsoft.com/office/drawing/2014/main" id="{1A145AFB-6787-453D-B448-E9137DB28E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4F46E5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4814BBEE-C172-42D3-BF45-CB6D5CFCC31D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Sınıf bazında dersler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482F63E-D444-49CA-AE8B-20342C2BA01C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7524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İyileşme homojen değil; bazı türlerde recall artarken bazı tür çiftleri hâlâ karışıyor.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C961E6D-C8DF-470F-8E4E-F346959EBEB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Hip-Hop F1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9973A28-73DA-4E84-A45F-61D7C0843204}"/>
              </a:ext>
            </a:extLst>
          </p:cNvPr>
          <p:cNvSpPr>
            <a:spLocks noGrp="1"/>
          </p:cNvSpPr>
          <p:nvPr/>
        </p:nvSpPr>
        <p:spPr>
          <a:xfrm>
            <a:off x="7962900" y="194310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8A058"/>
                </a:solidFill>
              </a:defRPr>
            </a:pPr>
            <a:r>
              <a:rPr sz="1575" b="1">
                <a:solidFill>
                  <a:srgbClr val="18A058"/>
                </a:solidFill>
              </a:rPr>
              <a:t>0.78</a:t>
            </a:r>
          </a:p>
        </p:txBody>
      </p:sp>
      <p:sp>
        <p:nvSpPr>
          <p:cNvPr id="8" name="bar-bg-Hip-Hop F1">
            <a:extLst>
              <a:ext uri="{FF2B5EF4-FFF2-40B4-BE49-F238E27FC236}">
                <a16:creationId xmlns:a16="http://schemas.microsoft.com/office/drawing/2014/main" id="{BF691193-1DBA-4AD0-81C3-8172DA2CF805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9" name="bar-fill-Hip-Hop F1">
            <a:extLst>
              <a:ext uri="{FF2B5EF4-FFF2-40B4-BE49-F238E27FC236}">
                <a16:creationId xmlns:a16="http://schemas.microsoft.com/office/drawing/2014/main" id="{4F5E9E37-5731-4B89-8F3A-388210195339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467100" cy="171450"/>
          </a:xfrm>
          <a:prstGeom prst="rect">
            <a:avLst/>
          </a:prstGeom>
          <a:solidFill>
            <a:srgbClr val="18A058"/>
          </a:solidFill>
        </p:spPr>
        <p:txBody>
          <a:bodyPr/>
          <a:lstStyle/>
          <a:p>
            <a:endParaRPr lang="tr-TR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C2882457-8B14-4420-AEF8-3D84048F655D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Folk F1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ABF48BA-1EFF-41FB-B849-06A418291524}"/>
              </a:ext>
            </a:extLst>
          </p:cNvPr>
          <p:cNvSpPr>
            <a:spLocks noGrp="1"/>
          </p:cNvSpPr>
          <p:nvPr/>
        </p:nvSpPr>
        <p:spPr>
          <a:xfrm>
            <a:off x="7962900" y="264795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F46E5"/>
                </a:solidFill>
              </a:defRPr>
            </a:pPr>
            <a:r>
              <a:rPr sz="1575" b="1">
                <a:solidFill>
                  <a:srgbClr val="4F46E5"/>
                </a:solidFill>
              </a:rPr>
              <a:t>0.67</a:t>
            </a:r>
          </a:p>
        </p:txBody>
      </p:sp>
      <p:sp>
        <p:nvSpPr>
          <p:cNvPr id="12" name="bar-bg-Folk F1">
            <a:extLst>
              <a:ext uri="{FF2B5EF4-FFF2-40B4-BE49-F238E27FC236}">
                <a16:creationId xmlns:a16="http://schemas.microsoft.com/office/drawing/2014/main" id="{CCD030D0-43B3-4D09-B06C-FA0410557A29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13" name="bar-fill-Folk F1">
            <a:extLst>
              <a:ext uri="{FF2B5EF4-FFF2-40B4-BE49-F238E27FC236}">
                <a16:creationId xmlns:a16="http://schemas.microsoft.com/office/drawing/2014/main" id="{B65715FA-1FD8-403A-BFED-9E910472A774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981325" cy="171450"/>
          </a:xfrm>
          <a:prstGeom prst="rect">
            <a:avLst/>
          </a:prstGeom>
          <a:solidFill>
            <a:srgbClr val="4F46E5"/>
          </a:solidFill>
        </p:spPr>
        <p:txBody>
          <a:bodyPr/>
          <a:lstStyle/>
          <a:p>
            <a:endParaRPr lang="tr-TR"/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16D6AC7-627F-4B65-9C61-353F97851AA5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Rock F1</a:t>
            </a: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81C4102-63DA-4900-87B5-E54A0E77ABF4}"/>
              </a:ext>
            </a:extLst>
          </p:cNvPr>
          <p:cNvSpPr>
            <a:spLocks noGrp="1"/>
          </p:cNvSpPr>
          <p:nvPr/>
        </p:nvSpPr>
        <p:spPr>
          <a:xfrm>
            <a:off x="7962900" y="333375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FF5A5F"/>
                </a:solidFill>
              </a:defRPr>
            </a:pPr>
            <a:r>
              <a:rPr sz="1575" b="1">
                <a:solidFill>
                  <a:srgbClr val="FF5A5F"/>
                </a:solidFill>
              </a:rPr>
              <a:t>0.67</a:t>
            </a:r>
          </a:p>
        </p:txBody>
      </p:sp>
      <p:sp>
        <p:nvSpPr>
          <p:cNvPr id="16" name="bar-bg-Rock F1">
            <a:extLst>
              <a:ext uri="{FF2B5EF4-FFF2-40B4-BE49-F238E27FC236}">
                <a16:creationId xmlns:a16="http://schemas.microsoft.com/office/drawing/2014/main" id="{13E1B27A-7EAC-40C7-8B14-59F967735A8C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17" name="bar-fill-Rock F1">
            <a:extLst>
              <a:ext uri="{FF2B5EF4-FFF2-40B4-BE49-F238E27FC236}">
                <a16:creationId xmlns:a16="http://schemas.microsoft.com/office/drawing/2014/main" id="{266F3F8C-CBCC-4AF5-9011-8594398850EC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2981325" cy="17145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6AF91DC4-5149-450F-A1C2-DF02A9D8B5EB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7086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Pop F1</a:t>
            </a: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44B5466-8FD8-478B-885D-A68752A0208C}"/>
              </a:ext>
            </a:extLst>
          </p:cNvPr>
          <p:cNvSpPr>
            <a:spLocks noGrp="1"/>
          </p:cNvSpPr>
          <p:nvPr/>
        </p:nvSpPr>
        <p:spPr>
          <a:xfrm>
            <a:off x="7962900" y="4038600"/>
            <a:ext cx="361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F5B301"/>
                </a:solidFill>
              </a:defRPr>
            </a:pPr>
            <a:r>
              <a:rPr sz="1575" b="1">
                <a:solidFill>
                  <a:srgbClr val="F5B301"/>
                </a:solidFill>
              </a:rPr>
              <a:t>0.39</a:t>
            </a:r>
          </a:p>
        </p:txBody>
      </p:sp>
      <p:sp>
        <p:nvSpPr>
          <p:cNvPr id="20" name="bar-bg-Pop F1">
            <a:extLst>
              <a:ext uri="{FF2B5EF4-FFF2-40B4-BE49-F238E27FC236}">
                <a16:creationId xmlns:a16="http://schemas.microsoft.com/office/drawing/2014/main" id="{E9F5614D-4F4E-4E2F-9A80-07FECCAFF75B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4000500" cy="171450"/>
          </a:xfrm>
          <a:prstGeom prst="rect">
            <a:avLst/>
          </a:prstGeom>
          <a:solidFill>
            <a:srgbClr val="E8EEF3"/>
          </a:solidFill>
        </p:spPr>
        <p:txBody>
          <a:bodyPr/>
          <a:lstStyle/>
          <a:p>
            <a:endParaRPr lang="tr-TR"/>
          </a:p>
        </p:txBody>
      </p:sp>
      <p:sp>
        <p:nvSpPr>
          <p:cNvPr id="21" name="bar-fill-Pop F1">
            <a:extLst>
              <a:ext uri="{FF2B5EF4-FFF2-40B4-BE49-F238E27FC236}">
                <a16:creationId xmlns:a16="http://schemas.microsoft.com/office/drawing/2014/main" id="{953AB3B3-6D23-43BF-B745-3B4EA3350714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1733550" cy="171450"/>
          </a:xfrm>
          <a:prstGeom prst="rect">
            <a:avLst/>
          </a:prstGeom>
          <a:solidFill>
            <a:srgbClr val="F5B301"/>
          </a:solidFill>
        </p:spPr>
        <p:txBody>
          <a:bodyPr/>
          <a:lstStyle/>
          <a:p>
            <a:endParaRPr lang="tr-TR"/>
          </a:p>
        </p:txBody>
      </p:sp>
      <p:sp>
        <p:nvSpPr>
          <p:cNvPr id="22" name="class-bullets-1">
            <a:extLst>
              <a:ext uri="{FF2B5EF4-FFF2-40B4-BE49-F238E27FC236}">
                <a16:creationId xmlns:a16="http://schemas.microsoft.com/office/drawing/2014/main" id="{E3131093-A8C8-408A-A8CC-8FF521DA6C29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Pop: +0.10 F1 ile en büyük V2 artışı.</a:t>
            </a:r>
          </a:p>
        </p:txBody>
      </p:sp>
      <p:sp>
        <p:nvSpPr>
          <p:cNvPr id="23" name="class-bullets-2">
            <a:extLst>
              <a:ext uri="{FF2B5EF4-FFF2-40B4-BE49-F238E27FC236}">
                <a16:creationId xmlns:a16="http://schemas.microsoft.com/office/drawing/2014/main" id="{1397EEC5-F24A-4908-8F63-253E9C90511F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Electronic: recall 0.90, precision 0.51; model geniş yakalıyor.</a:t>
            </a:r>
          </a:p>
        </p:txBody>
      </p:sp>
      <p:sp>
        <p:nvSpPr>
          <p:cNvPr id="24" name="class-bullets-3">
            <a:extLst>
              <a:ext uri="{FF2B5EF4-FFF2-40B4-BE49-F238E27FC236}">
                <a16:creationId xmlns:a16="http://schemas.microsoft.com/office/drawing/2014/main" id="{923E6C19-5487-424C-A4AE-F437B1F58609}"/>
              </a:ext>
            </a:extLst>
          </p:cNvPr>
          <p:cNvSpPr>
            <a:spLocks noGrp="1"/>
          </p:cNvSpPr>
          <p:nvPr/>
        </p:nvSpPr>
        <p:spPr>
          <a:xfrm>
            <a:off x="723900" y="5581650"/>
            <a:ext cx="7600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Experimental ve Rock V2'de hafif geriliyor; sonraki odak alanı.</a:t>
            </a:r>
          </a:p>
        </p:txBody>
      </p:sp>
      <p:sp>
        <p:nvSpPr>
          <p:cNvPr id="25" name="confusion-panel">
            <a:extLst>
              <a:ext uri="{FF2B5EF4-FFF2-40B4-BE49-F238E27FC236}">
                <a16:creationId xmlns:a16="http://schemas.microsoft.com/office/drawing/2014/main" id="{28C717F4-EC7A-46E9-AD80-F80E802B1869}"/>
              </a:ext>
            </a:extLst>
          </p:cNvPr>
          <p:cNvSpPr>
            <a:spLocks noGrp="1"/>
          </p:cNvSpPr>
          <p:nvPr/>
        </p:nvSpPr>
        <p:spPr>
          <a:xfrm>
            <a:off x="8645271" y="1941195"/>
            <a:ext cx="8918829" cy="7362825"/>
          </a:xfrm>
          <a:prstGeom prst="roundRect">
            <a:avLst>
              <a:gd name="adj" fmla="val 1035"/>
            </a:avLst>
          </a:prstGeom>
          <a:solidFill>
            <a:srgbClr val="FFFFFF"/>
          </a:solidFill>
        </p:spPr>
        <p:txBody>
          <a:bodyPr/>
          <a:lstStyle/>
          <a:p>
            <a:endParaRPr lang="tr-TR"/>
          </a:p>
        </p:txBody>
      </p:sp>
      <p:pic>
        <p:nvPicPr>
          <p:cNvPr id="26" name="confusion-matrix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10114" y="2112645"/>
            <a:ext cx="8389144" cy="6711315"/>
          </a:xfrm>
          <a:prstGeom prst="rect">
            <a:avLst/>
          </a:prstGeom>
        </p:spPr>
      </p:pic>
      <p:sp>
        <p:nvSpPr>
          <p:cNvPr id="27" name="confusion-caption">
            <a:extLst>
              <a:ext uri="{FF2B5EF4-FFF2-40B4-BE49-F238E27FC236}">
                <a16:creationId xmlns:a16="http://schemas.microsoft.com/office/drawing/2014/main" id="{FEA7A370-EDEB-42D9-9314-41F9D2F11DAE}"/>
              </a:ext>
            </a:extLst>
          </p:cNvPr>
          <p:cNvSpPr>
            <a:spLocks noGrp="1"/>
          </p:cNvSpPr>
          <p:nvPr/>
        </p:nvSpPr>
        <p:spPr>
          <a:xfrm>
            <a:off x="8820150" y="8934450"/>
            <a:ext cx="857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53616E"/>
                </a:solidFill>
              </a:defRPr>
            </a:pPr>
            <a:r>
              <a:rPr sz="1275">
                <a:solidFill>
                  <a:srgbClr val="53616E"/>
                </a:solidFill>
              </a:rPr>
              <a:t>Repo görseli: confusion matrix, sınıf karışımlarını gösteriyor.</a:t>
            </a:r>
          </a:p>
        </p:txBody>
      </p:sp>
      <p:sp>
        <p:nvSpPr>
          <p:cNvPr id="28" name="source-8">
            <a:extLst>
              <a:ext uri="{FF2B5EF4-FFF2-40B4-BE49-F238E27FC236}">
                <a16:creationId xmlns:a16="http://schemas.microsoft.com/office/drawing/2014/main" id="{37E95430-F7E0-4D7B-AC09-0FBB04FAED16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docs/v2_results.md, confusion_matrix.png</a:t>
            </a:r>
          </a:p>
        </p:txBody>
      </p:sp>
      <p:sp>
        <p:nvSpPr>
          <p:cNvPr id="29" name="slide-number-8">
            <a:extLst>
              <a:ext uri="{FF2B5EF4-FFF2-40B4-BE49-F238E27FC236}">
                <a16:creationId xmlns:a16="http://schemas.microsoft.com/office/drawing/2014/main" id="{3A494991-E552-4F11-85D7-16DA479C2DF7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08</a:t>
            </a:r>
          </a:p>
        </p:txBody>
      </p:sp>
      <p:pic>
        <p:nvPicPr>
          <p:cNvPr id="31" name="Resim 30">
            <a:extLst>
              <a:ext uri="{FF2B5EF4-FFF2-40B4-BE49-F238E27FC236}">
                <a16:creationId xmlns:a16="http://schemas.microsoft.com/office/drawing/2014/main" id="{A99ADF38-ADB7-3C9B-3EC9-29A081E61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0660" y="2195500"/>
            <a:ext cx="3229426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6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-9">
            <a:extLst>
              <a:ext uri="{FF2B5EF4-FFF2-40B4-BE49-F238E27FC236}">
                <a16:creationId xmlns:a16="http://schemas.microsoft.com/office/drawing/2014/main" id="{790A84F9-6483-4435-89FD-427F1C806A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9">
            <a:extLst>
              <a:ext uri="{FF2B5EF4-FFF2-40B4-BE49-F238E27FC236}">
                <a16:creationId xmlns:a16="http://schemas.microsoft.com/office/drawing/2014/main" id="{7D3EAC6F-2F1B-4C11-B4F1-409CC6C02C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18A058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F9AF7B0-A43D-4848-A0B9-61ACA4DD5AFA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Uygulama yüzeyi: FastAPI + Next.js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E0C191A-8209-4BF3-8257-090B0184364B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7658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>
                <a:solidFill>
                  <a:srgbClr val="53616E"/>
                </a:solidFill>
              </a:rPr>
              <a:t>Proje artık eğitilmiş modelin etrafında çalışan, denenebilir bir tahmin akışı sunuyor.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4A975EB-B200-4AD9-9930-D3CBD76580CC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82486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5A5F"/>
                </a:solidFill>
              </a:defRPr>
            </a:pPr>
            <a:r>
              <a:rPr sz="2550" b="1">
                <a:solidFill>
                  <a:srgbClr val="FF5A5F"/>
                </a:solidFill>
              </a:rPr>
              <a:t>Backend uç noktaları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04BE81D-D7D2-40BB-A818-8A1DD43AD91C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8248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/>
            </a:pPr>
            <a:r>
              <a:rPr sz="2100"/>
              <a:t>GET  /health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0A5B4B7-309C-4E6E-8157-350ABF801BD1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8248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/>
            </a:pPr>
            <a:r>
              <a:rPr sz="2100"/>
              <a:t>GET  /genres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FBCC574-50FB-4536-B36A-6A7320E3CDB9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82486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/>
            </a:pPr>
            <a:r>
              <a:rPr sz="2100"/>
              <a:t>POST /predict</a:t>
            </a:r>
          </a:p>
        </p:txBody>
      </p:sp>
      <p:sp>
        <p:nvSpPr>
          <p:cNvPr id="10" name="api-bullets-1">
            <a:extLst>
              <a:ext uri="{FF2B5EF4-FFF2-40B4-BE49-F238E27FC236}">
                <a16:creationId xmlns:a16="http://schemas.microsoft.com/office/drawing/2014/main" id="{25AB5298-03AA-48AD-A468-831B02D14A25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8248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Ses dosyası temp alana kaydedilir.</a:t>
            </a:r>
          </a:p>
        </p:txBody>
      </p:sp>
      <p:sp>
        <p:nvSpPr>
          <p:cNvPr id="11" name="api-bullets-2">
            <a:extLst>
              <a:ext uri="{FF2B5EF4-FFF2-40B4-BE49-F238E27FC236}">
                <a16:creationId xmlns:a16="http://schemas.microsoft.com/office/drawing/2014/main" id="{F5972FF7-CBF0-40E0-A9B2-4247CD40164D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8248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Librosa ile aynı ön işleme uygulanır.</a:t>
            </a:r>
          </a:p>
        </p:txBody>
      </p:sp>
      <p:sp>
        <p:nvSpPr>
          <p:cNvPr id="12" name="api-bullets-3">
            <a:extLst>
              <a:ext uri="{FF2B5EF4-FFF2-40B4-BE49-F238E27FC236}">
                <a16:creationId xmlns:a16="http://schemas.microsoft.com/office/drawing/2014/main" id="{6712E345-C70E-4B95-BE40-EFBDB94DE513}"/>
              </a:ext>
            </a:extLst>
          </p:cNvPr>
          <p:cNvSpPr>
            <a:spLocks noGrp="1"/>
          </p:cNvSpPr>
          <p:nvPr/>
        </p:nvSpPr>
        <p:spPr>
          <a:xfrm>
            <a:off x="723900" y="4838700"/>
            <a:ext cx="8248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- ModelManager gerçek V2 ağırlığını ya da mock modu kullanır.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37FDE2A4-F461-4D22-89A8-6B693813EA9E}"/>
              </a:ext>
            </a:extLst>
          </p:cNvPr>
          <p:cNvSpPr>
            <a:spLocks noGrp="1"/>
          </p:cNvSpPr>
          <p:nvPr/>
        </p:nvSpPr>
        <p:spPr>
          <a:xfrm>
            <a:off x="9315450" y="1943100"/>
            <a:ext cx="82486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Frontend akışı</a:t>
            </a:r>
          </a:p>
        </p:txBody>
      </p:sp>
      <p:sp>
        <p:nvSpPr>
          <p:cNvPr id="14" name="flow-uploadarea">
            <a:extLst>
              <a:ext uri="{FF2B5EF4-FFF2-40B4-BE49-F238E27FC236}">
                <a16:creationId xmlns:a16="http://schemas.microsoft.com/office/drawing/2014/main" id="{0C4EB3E4-8F2A-4C74-9E59-2A41B8AB3822}"/>
              </a:ext>
            </a:extLst>
          </p:cNvPr>
          <p:cNvSpPr>
            <a:spLocks noGrp="1"/>
          </p:cNvSpPr>
          <p:nvPr/>
        </p:nvSpPr>
        <p:spPr>
          <a:xfrm>
            <a:off x="9315450" y="252031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E6F6FB"/>
          </a:solidFill>
        </p:spPr>
        <p:txBody>
          <a:bodyPr/>
          <a:lstStyle/>
          <a:p>
            <a:endParaRPr lang="tr-TR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CD7D757F-5FF3-40DC-8EFB-13799425ED89}"/>
              </a:ext>
            </a:extLst>
          </p:cNvPr>
          <p:cNvSpPr>
            <a:spLocks noGrp="1"/>
          </p:cNvSpPr>
          <p:nvPr/>
        </p:nvSpPr>
        <p:spPr>
          <a:xfrm>
            <a:off x="9544050" y="270510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UploadArea</a:t>
            </a: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A6FBF647-8F55-49FD-A670-58A2EB04F5D5}"/>
              </a:ext>
            </a:extLst>
          </p:cNvPr>
          <p:cNvSpPr>
            <a:spLocks noGrp="1"/>
          </p:cNvSpPr>
          <p:nvPr/>
        </p:nvSpPr>
        <p:spPr>
          <a:xfrm>
            <a:off x="9544050" y="310515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kullanıcı ses yükler</a:t>
            </a:r>
          </a:p>
        </p:txBody>
      </p:sp>
      <p:sp>
        <p:nvSpPr>
          <p:cNvPr id="17" name="ui-arrow-1">
            <a:extLst>
              <a:ext uri="{FF2B5EF4-FFF2-40B4-BE49-F238E27FC236}">
                <a16:creationId xmlns:a16="http://schemas.microsoft.com/office/drawing/2014/main" id="{4036E85C-BA52-4B63-97AF-3B4FD1B1E3C7}"/>
              </a:ext>
            </a:extLst>
          </p:cNvPr>
          <p:cNvSpPr>
            <a:spLocks noGrp="1"/>
          </p:cNvSpPr>
          <p:nvPr/>
        </p:nvSpPr>
        <p:spPr>
          <a:xfrm>
            <a:off x="13182600" y="251460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0A6D6"/>
                </a:solidFill>
              </a:defRPr>
            </a:pPr>
            <a:r>
              <a:rPr sz="2700" b="1">
                <a:solidFill>
                  <a:srgbClr val="00A6D6"/>
                </a:solidFill>
              </a:rPr>
              <a:t>-&gt;</a:t>
            </a:r>
          </a:p>
        </p:txBody>
      </p:sp>
      <p:sp>
        <p:nvSpPr>
          <p:cNvPr id="18" name="flow-api-call">
            <a:extLst>
              <a:ext uri="{FF2B5EF4-FFF2-40B4-BE49-F238E27FC236}">
                <a16:creationId xmlns:a16="http://schemas.microsoft.com/office/drawing/2014/main" id="{FAF36BE7-A7C0-43CF-874F-6C60F2C52F2A}"/>
              </a:ext>
            </a:extLst>
          </p:cNvPr>
          <p:cNvSpPr>
            <a:spLocks noGrp="1"/>
          </p:cNvSpPr>
          <p:nvPr/>
        </p:nvSpPr>
        <p:spPr>
          <a:xfrm>
            <a:off x="13830300" y="252031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FFF8DF"/>
          </a:solidFill>
        </p:spPr>
        <p:txBody>
          <a:bodyPr/>
          <a:lstStyle/>
          <a:p>
            <a:endParaRPr lang="tr-TR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7A8294BB-4646-479D-AD5D-B289CD76EB81}"/>
              </a:ext>
            </a:extLst>
          </p:cNvPr>
          <p:cNvSpPr>
            <a:spLocks noGrp="1"/>
          </p:cNvSpPr>
          <p:nvPr/>
        </p:nvSpPr>
        <p:spPr>
          <a:xfrm>
            <a:off x="14058900" y="270510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API call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42AC8AA-A675-487F-8CE7-F94589A1C532}"/>
              </a:ext>
            </a:extLst>
          </p:cNvPr>
          <p:cNvSpPr>
            <a:spLocks noGrp="1"/>
          </p:cNvSpPr>
          <p:nvPr/>
        </p:nvSpPr>
        <p:spPr>
          <a:xfrm>
            <a:off x="14058900" y="310515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FormData -&gt; /predict</a:t>
            </a:r>
          </a:p>
        </p:txBody>
      </p:sp>
      <p:sp>
        <p:nvSpPr>
          <p:cNvPr id="21" name="flow-resultchart">
            <a:extLst>
              <a:ext uri="{FF2B5EF4-FFF2-40B4-BE49-F238E27FC236}">
                <a16:creationId xmlns:a16="http://schemas.microsoft.com/office/drawing/2014/main" id="{B47E9A31-C65B-4C6A-9498-787045235B18}"/>
              </a:ext>
            </a:extLst>
          </p:cNvPr>
          <p:cNvSpPr>
            <a:spLocks noGrp="1"/>
          </p:cNvSpPr>
          <p:nvPr/>
        </p:nvSpPr>
        <p:spPr>
          <a:xfrm>
            <a:off x="9315450" y="413956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EAF8F0"/>
          </a:solidFill>
        </p:spPr>
        <p:txBody>
          <a:bodyPr/>
          <a:lstStyle/>
          <a:p>
            <a:endParaRPr lang="tr-TR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10065C08-D880-4596-A421-7F5577451E97}"/>
              </a:ext>
            </a:extLst>
          </p:cNvPr>
          <p:cNvSpPr>
            <a:spLocks noGrp="1"/>
          </p:cNvSpPr>
          <p:nvPr/>
        </p:nvSpPr>
        <p:spPr>
          <a:xfrm>
            <a:off x="9544050" y="432435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ResultChart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ADE0CAEC-138B-445F-973F-A6A199DDE080}"/>
              </a:ext>
            </a:extLst>
          </p:cNvPr>
          <p:cNvSpPr>
            <a:spLocks noGrp="1"/>
          </p:cNvSpPr>
          <p:nvPr/>
        </p:nvSpPr>
        <p:spPr>
          <a:xfrm>
            <a:off x="9544050" y="472440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olasılıkları gösterir</a:t>
            </a:r>
          </a:p>
        </p:txBody>
      </p:sp>
      <p:sp>
        <p:nvSpPr>
          <p:cNvPr id="24" name="ui-arrow-2">
            <a:extLst>
              <a:ext uri="{FF2B5EF4-FFF2-40B4-BE49-F238E27FC236}">
                <a16:creationId xmlns:a16="http://schemas.microsoft.com/office/drawing/2014/main" id="{5EDB7850-44F1-4B85-A32E-CD033790739E}"/>
              </a:ext>
            </a:extLst>
          </p:cNvPr>
          <p:cNvSpPr>
            <a:spLocks noGrp="1"/>
          </p:cNvSpPr>
          <p:nvPr/>
        </p:nvSpPr>
        <p:spPr>
          <a:xfrm>
            <a:off x="13182600" y="4133850"/>
            <a:ext cx="5143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8A058"/>
                </a:solidFill>
              </a:defRPr>
            </a:pPr>
            <a:r>
              <a:rPr sz="2700" b="1">
                <a:solidFill>
                  <a:srgbClr val="18A058"/>
                </a:solidFill>
              </a:rPr>
              <a:t>-&gt;</a:t>
            </a:r>
          </a:p>
        </p:txBody>
      </p:sp>
      <p:sp>
        <p:nvSpPr>
          <p:cNvPr id="25" name="flow-top-genre">
            <a:extLst>
              <a:ext uri="{FF2B5EF4-FFF2-40B4-BE49-F238E27FC236}">
                <a16:creationId xmlns:a16="http://schemas.microsoft.com/office/drawing/2014/main" id="{20903532-7188-46B7-BEC9-98FAD89A034D}"/>
              </a:ext>
            </a:extLst>
          </p:cNvPr>
          <p:cNvSpPr>
            <a:spLocks noGrp="1"/>
          </p:cNvSpPr>
          <p:nvPr/>
        </p:nvSpPr>
        <p:spPr>
          <a:xfrm>
            <a:off x="13830300" y="4139565"/>
            <a:ext cx="3733800" cy="1428750"/>
          </a:xfrm>
          <a:prstGeom prst="roundRect">
            <a:avLst>
              <a:gd name="adj" fmla="val 5333"/>
            </a:avLst>
          </a:prstGeom>
          <a:solidFill>
            <a:srgbClr val="FFF0F0"/>
          </a:solidFill>
        </p:spPr>
        <p:txBody>
          <a:bodyPr/>
          <a:lstStyle/>
          <a:p>
            <a:endParaRPr lang="tr-TR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67AF2A7E-05C5-46B6-B337-804DB223168B}"/>
              </a:ext>
            </a:extLst>
          </p:cNvPr>
          <p:cNvSpPr>
            <a:spLocks noGrp="1"/>
          </p:cNvSpPr>
          <p:nvPr/>
        </p:nvSpPr>
        <p:spPr>
          <a:xfrm>
            <a:off x="14058900" y="4324350"/>
            <a:ext cx="32766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Top genre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DA7E1EFF-E481-40E4-8B91-088FE017BCDF}"/>
              </a:ext>
            </a:extLst>
          </p:cNvPr>
          <p:cNvSpPr>
            <a:spLocks noGrp="1"/>
          </p:cNvSpPr>
          <p:nvPr/>
        </p:nvSpPr>
        <p:spPr>
          <a:xfrm>
            <a:off x="14058900" y="4724400"/>
            <a:ext cx="3276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3616E"/>
                </a:solidFill>
              </a:defRPr>
            </a:pPr>
            <a:r>
              <a:rPr sz="1500">
                <a:solidFill>
                  <a:srgbClr val="53616E"/>
                </a:solidFill>
              </a:rPr>
              <a:t>en yüksek sınıf vurgulanır</a:t>
            </a:r>
          </a:p>
        </p:txBody>
      </p:sp>
      <p:sp>
        <p:nvSpPr>
          <p:cNvPr id="28" name="source-9">
            <a:extLst>
              <a:ext uri="{FF2B5EF4-FFF2-40B4-BE49-F238E27FC236}">
                <a16:creationId xmlns:a16="http://schemas.microsoft.com/office/drawing/2014/main" id="{1EEB27BF-5498-4924-80D2-D56B676347C4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backend/main.py, backend/model_loader.py, web/src/components/*.tsx</a:t>
            </a:r>
          </a:p>
        </p:txBody>
      </p:sp>
      <p:sp>
        <p:nvSpPr>
          <p:cNvPr id="29" name="slide-number-9">
            <a:extLst>
              <a:ext uri="{FF2B5EF4-FFF2-40B4-BE49-F238E27FC236}">
                <a16:creationId xmlns:a16="http://schemas.microsoft.com/office/drawing/2014/main" id="{A7E24149-0CEA-41A6-BF78-9403494A4D43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204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-10">
            <a:extLst>
              <a:ext uri="{FF2B5EF4-FFF2-40B4-BE49-F238E27FC236}">
                <a16:creationId xmlns:a16="http://schemas.microsoft.com/office/drawing/2014/main" id="{F76AC331-D781-478A-A338-DB8C7AFE0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</p:spPr>
        <p:txBody>
          <a:bodyPr/>
          <a:lstStyle/>
          <a:p>
            <a:endParaRPr lang="tr-TR"/>
          </a:p>
        </p:txBody>
      </p:sp>
      <p:sp>
        <p:nvSpPr>
          <p:cNvPr id="2" name="accent-strip-10">
            <a:extLst>
              <a:ext uri="{FF2B5EF4-FFF2-40B4-BE49-F238E27FC236}">
                <a16:creationId xmlns:a16="http://schemas.microsoft.com/office/drawing/2014/main" id="{1A908178-95EF-45A3-A91D-039DA167E5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FF5A5F"/>
          </a:solidFill>
        </p:spPr>
        <p:txBody>
          <a:bodyPr/>
          <a:lstStyle/>
          <a:p>
            <a:endParaRPr lang="tr-TR"/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CD1BC0B-C968-4F35-B5CF-BD7FFBE45C3C}"/>
              </a:ext>
            </a:extLst>
          </p:cNvPr>
          <p:cNvSpPr>
            <a:spLocks noGrp="1"/>
          </p:cNvSpPr>
          <p:nvPr/>
        </p:nvSpPr>
        <p:spPr>
          <a:xfrm>
            <a:off x="723900" y="533400"/>
            <a:ext cx="16840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Özet ve sonraki adımlar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D84264F-6C17-447A-A1A1-4016FEFE2867}"/>
              </a:ext>
            </a:extLst>
          </p:cNvPr>
          <p:cNvSpPr>
            <a:spLocks noGrp="1"/>
          </p:cNvSpPr>
          <p:nvPr/>
        </p:nvSpPr>
        <p:spPr>
          <a:xfrm>
            <a:off x="723900" y="1238250"/>
            <a:ext cx="9029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3616E"/>
                </a:solidFill>
              </a:defRPr>
            </a:pPr>
            <a:r>
              <a:rPr sz="1800" dirty="0" err="1">
                <a:solidFill>
                  <a:srgbClr val="53616E"/>
                </a:solidFill>
              </a:rPr>
              <a:t>Projenin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güncel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hali</a:t>
            </a:r>
            <a:r>
              <a:rPr sz="1800" dirty="0">
                <a:solidFill>
                  <a:srgbClr val="53616E"/>
                </a:solidFill>
              </a:rPr>
              <a:t>, </a:t>
            </a:r>
            <a:r>
              <a:rPr sz="1800" dirty="0" err="1">
                <a:solidFill>
                  <a:srgbClr val="53616E"/>
                </a:solidFill>
              </a:rPr>
              <a:t>araştırma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prototipinden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uçtan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uca</a:t>
            </a:r>
            <a:r>
              <a:rPr sz="1800" dirty="0">
                <a:solidFill>
                  <a:srgbClr val="53616E"/>
                </a:solidFill>
              </a:rPr>
              <a:t> demo </a:t>
            </a:r>
            <a:r>
              <a:rPr sz="1800" dirty="0" err="1">
                <a:solidFill>
                  <a:srgbClr val="53616E"/>
                </a:solidFill>
              </a:rPr>
              <a:t>sistemine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doğru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ilerlemiş</a:t>
            </a:r>
            <a:r>
              <a:rPr sz="1800" dirty="0">
                <a:solidFill>
                  <a:srgbClr val="53616E"/>
                </a:solidFill>
              </a:rPr>
              <a:t> </a:t>
            </a:r>
            <a:r>
              <a:rPr sz="1800" dirty="0" err="1">
                <a:solidFill>
                  <a:srgbClr val="53616E"/>
                </a:solidFill>
              </a:rPr>
              <a:t>durumda</a:t>
            </a:r>
            <a:r>
              <a:rPr sz="1800" dirty="0">
                <a:solidFill>
                  <a:srgbClr val="53616E"/>
                </a:solidFill>
              </a:rPr>
              <a:t>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DA5AF6E-195D-422B-B4F5-C68F3C5D0DF0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8248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Bugünkü durum</a:t>
            </a:r>
          </a:p>
        </p:txBody>
      </p:sp>
      <p:sp>
        <p:nvSpPr>
          <p:cNvPr id="7" name="wrap-now-1">
            <a:extLst>
              <a:ext uri="{FF2B5EF4-FFF2-40B4-BE49-F238E27FC236}">
                <a16:creationId xmlns:a16="http://schemas.microsoft.com/office/drawing/2014/main" id="{B5796693-189F-444C-8F2B-BB820D2019DB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PyTorch tabanlı GenreCNN V2 uygulanmış durumda.</a:t>
            </a:r>
          </a:p>
        </p:txBody>
      </p:sp>
      <p:sp>
        <p:nvSpPr>
          <p:cNvPr id="8" name="wrap-now-2">
            <a:extLst>
              <a:ext uri="{FF2B5EF4-FFF2-40B4-BE49-F238E27FC236}">
                <a16:creationId xmlns:a16="http://schemas.microsoft.com/office/drawing/2014/main" id="{90DAA36A-7F37-4975-858E-3E74D9407356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FMA Small üzerinde ölçülen test accuracy: 61.88%.</a:t>
            </a:r>
          </a:p>
        </p:txBody>
      </p:sp>
      <p:sp>
        <p:nvSpPr>
          <p:cNvPr id="9" name="wrap-now-3">
            <a:extLst>
              <a:ext uri="{FF2B5EF4-FFF2-40B4-BE49-F238E27FC236}">
                <a16:creationId xmlns:a16="http://schemas.microsoft.com/office/drawing/2014/main" id="{82F12C73-DF42-484E-BD30-6043830D6783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API ve web arayüzü ile dosya yükleyip tahmin alma akışı hazır.</a:t>
            </a:r>
          </a:p>
        </p:txBody>
      </p:sp>
      <p:sp>
        <p:nvSpPr>
          <p:cNvPr id="10" name="wrap-now-4">
            <a:extLst>
              <a:ext uri="{FF2B5EF4-FFF2-40B4-BE49-F238E27FC236}">
                <a16:creationId xmlns:a16="http://schemas.microsoft.com/office/drawing/2014/main" id="{DDE0C2DC-9B3F-4B32-9725-91F8F1D49C77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Veri/model dosyaları Git dışında, Drive + junction yapısıyla yönetiliyor.</a:t>
            </a: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4E9E658-35C6-4B58-ABB0-340FA2A54BB3}"/>
              </a:ext>
            </a:extLst>
          </p:cNvPr>
          <p:cNvSpPr>
            <a:spLocks noGrp="1"/>
          </p:cNvSpPr>
          <p:nvPr/>
        </p:nvSpPr>
        <p:spPr>
          <a:xfrm>
            <a:off x="9315450" y="1943100"/>
            <a:ext cx="82486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FF5A5F"/>
                </a:solidFill>
              </a:defRPr>
            </a:pPr>
            <a:r>
              <a:rPr sz="2850" b="1">
                <a:solidFill>
                  <a:srgbClr val="FF5A5F"/>
                </a:solidFill>
              </a:rPr>
              <a:t>Mantıklı geliştirme yönü</a:t>
            </a:r>
          </a:p>
        </p:txBody>
      </p:sp>
      <p:sp>
        <p:nvSpPr>
          <p:cNvPr id="12" name="wrap-next-1">
            <a:extLst>
              <a:ext uri="{FF2B5EF4-FFF2-40B4-BE49-F238E27FC236}">
                <a16:creationId xmlns:a16="http://schemas.microsoft.com/office/drawing/2014/main" id="{CD9A49C7-9FFF-4EED-972D-D8451CCEEDEE}"/>
              </a:ext>
            </a:extLst>
          </p:cNvPr>
          <p:cNvSpPr>
            <a:spLocks noGrp="1"/>
          </p:cNvSpPr>
          <p:nvPr/>
        </p:nvSpPr>
        <p:spPr>
          <a:xfrm>
            <a:off x="9315450" y="25908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Pop ve Experimental için hedefli augmentation.</a:t>
            </a:r>
          </a:p>
        </p:txBody>
      </p:sp>
      <p:sp>
        <p:nvSpPr>
          <p:cNvPr id="13" name="wrap-next-2">
            <a:extLst>
              <a:ext uri="{FF2B5EF4-FFF2-40B4-BE49-F238E27FC236}">
                <a16:creationId xmlns:a16="http://schemas.microsoft.com/office/drawing/2014/main" id="{A369B3F5-8B04-475A-AE27-F9B3E2E3085A}"/>
              </a:ext>
            </a:extLst>
          </p:cNvPr>
          <p:cNvSpPr>
            <a:spLocks noGrp="1"/>
          </p:cNvSpPr>
          <p:nvPr/>
        </p:nvSpPr>
        <p:spPr>
          <a:xfrm>
            <a:off x="9315450" y="30289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Ön eğitimli audio backbone veya transfer learning denemesi.</a:t>
            </a:r>
          </a:p>
        </p:txBody>
      </p:sp>
      <p:sp>
        <p:nvSpPr>
          <p:cNvPr id="14" name="wrap-next-3">
            <a:extLst>
              <a:ext uri="{FF2B5EF4-FFF2-40B4-BE49-F238E27FC236}">
                <a16:creationId xmlns:a16="http://schemas.microsoft.com/office/drawing/2014/main" id="{16B89EC8-EBAB-4CD3-A83D-31C007F49324}"/>
              </a:ext>
            </a:extLst>
          </p:cNvPr>
          <p:cNvSpPr>
            <a:spLocks noGrp="1"/>
          </p:cNvSpPr>
          <p:nvPr/>
        </p:nvSpPr>
        <p:spPr>
          <a:xfrm>
            <a:off x="9315450" y="348615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Tür karışımlarını açıklayan hata analizi örnekleri.</a:t>
            </a:r>
          </a:p>
        </p:txBody>
      </p:sp>
      <p:sp>
        <p:nvSpPr>
          <p:cNvPr id="15" name="wrap-next-4">
            <a:extLst>
              <a:ext uri="{FF2B5EF4-FFF2-40B4-BE49-F238E27FC236}">
                <a16:creationId xmlns:a16="http://schemas.microsoft.com/office/drawing/2014/main" id="{D7363678-28F7-485F-BFCB-3BA59137FCA1}"/>
              </a:ext>
            </a:extLst>
          </p:cNvPr>
          <p:cNvSpPr>
            <a:spLocks noGrp="1"/>
          </p:cNvSpPr>
          <p:nvPr/>
        </p:nvSpPr>
        <p:spPr>
          <a:xfrm>
            <a:off x="9315450" y="3924300"/>
            <a:ext cx="8248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101820"/>
                </a:solidFill>
              </a:defRPr>
            </a:pPr>
            <a:r>
              <a:rPr sz="1950">
                <a:solidFill>
                  <a:srgbClr val="101820"/>
                </a:solidFill>
              </a:rPr>
              <a:t>- Frontend'de güven skoru kalibrasyonu ve örnek sonuç kayıtları.</a:t>
            </a:r>
          </a:p>
        </p:txBody>
      </p:sp>
      <p:sp>
        <p:nvSpPr>
          <p:cNvPr id="16" name="source-10">
            <a:extLst>
              <a:ext uri="{FF2B5EF4-FFF2-40B4-BE49-F238E27FC236}">
                <a16:creationId xmlns:a16="http://schemas.microsoft.com/office/drawing/2014/main" id="{33A660B3-4E74-45D5-BCFA-89731D4E1973}"/>
              </a:ext>
            </a:extLst>
          </p:cNvPr>
          <p:cNvSpPr>
            <a:spLocks noGrp="1"/>
          </p:cNvSpPr>
          <p:nvPr/>
        </p:nvSpPr>
        <p:spPr>
          <a:xfrm>
            <a:off x="723900" y="9563100"/>
            <a:ext cx="16325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3808C"/>
                </a:solidFill>
              </a:defRPr>
            </a:pPr>
            <a:r>
              <a:rPr sz="1125">
                <a:solidFill>
                  <a:srgbClr val="73808C"/>
                </a:solidFill>
              </a:rPr>
              <a:t>Kaynak: proje dosyalarının güncel hali</a:t>
            </a:r>
          </a:p>
        </p:txBody>
      </p:sp>
      <p:sp>
        <p:nvSpPr>
          <p:cNvPr id="17" name="slide-number-10">
            <a:extLst>
              <a:ext uri="{FF2B5EF4-FFF2-40B4-BE49-F238E27FC236}">
                <a16:creationId xmlns:a16="http://schemas.microsoft.com/office/drawing/2014/main" id="{17ED31D1-15F0-4E3C-90E5-FA37125CD9C4}"/>
              </a:ext>
            </a:extLst>
          </p:cNvPr>
          <p:cNvSpPr>
            <a:spLocks noGrp="1"/>
          </p:cNvSpPr>
          <p:nvPr/>
        </p:nvSpPr>
        <p:spPr>
          <a:xfrm>
            <a:off x="17240250" y="9563100"/>
            <a:ext cx="323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73808C"/>
                </a:solidFill>
              </a:defRPr>
            </a:pPr>
            <a:r>
              <a:rPr sz="1200" b="1">
                <a:solidFill>
                  <a:srgbClr val="73808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32955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906</Words>
  <Application>Microsoft Office PowerPoint</Application>
  <DocSecurity>0</DocSecurity>
  <PresentationFormat>Özel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Tolga Direk</cp:lastModifiedBy>
  <cp:revision>4</cp:revision>
  <dcterms:created xsi:type="dcterms:W3CDTF">2026-05-17T18:30:25Z</dcterms:created>
  <dcterms:modified xsi:type="dcterms:W3CDTF">2026-06-06T11:49:48Z</dcterms:modified>
</cp:coreProperties>
</file>